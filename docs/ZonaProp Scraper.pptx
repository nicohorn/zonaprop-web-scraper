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Default Extension="fntdata" ContentType="application/x-fontdata"/>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embeddedFontLst>
    <p:embeddedFont>
      <p:font typeface="Rubik" pitchFamily="34" charset="0"/>
      <p:regular r:id="rId15"/>
      <p:bold r:id="rId16"/>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font" Target="fonts/font1.fntdata"/><Relationship Id="rId16"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del equipo. En 10 minutos recorremos el problema, cómo construimos el scraper, cómo validamos que los datos son confiables y qué modelo entrenamos con ellos.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pregunta de negocio es el precio justo de un departamento. Pero para Web Mining lo central es que ese dato no existe como dataset: hay que construirlo desde la web. Por eso la mitad del trabajo es el scraper y la validación de lo que extrae; el modelo es el uso aguas abajo.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corre local, sin servicios externos. Node se encarga del navegador y la extracción; Python del análisis. La interfaz deja lanzar el scraper, generar el reporte de calidad y entrenar o consultar el modelo. Que cada corrida quede guardada hace que los resultados sean reproducibles.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scraper arma las búsquedas, pagina cada una y parsea cada tarjeta del listado. Cada aviso se escribe apenas se lee, así que cortar es seguro y la corrida siguiente retoma en la misma página. El ritmo es deliberadamente lento: es scraping académico, a ritmo humano, sin paralelizar.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fueron las dificultades reales. Cloudflare obligó a usar un navegador real y no un cliente HTTP. ZonaProp corta la paginación, así que las búsquedas grandes se parten por precio. El sitio no da errores: redirige o repite páginas, y eso hay que detectarlo. Y como una corrida dura horas, todo se guarda a medida que se lee para poder retomar.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defender que el scraper funciona, separamos errores del scraper de errores de quien publica. Del lado del scraper: ningún aviso duplicado, todos los formatos correctos, los campos obligatorios completos, y lo extraído coincide con la URL, que es una fuente independiente del texto. Además el porcentaje de campos vacíos fue estable hora a hora, así que no cambió el HTML a mitad de camino. Del lado del origen, el reporte encuentra anunciantes que eligen pesos con montos en dólares o cargan valores de relleno. Todo esto está en la pantalla Calidad de datos y en el notebook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predice el logaritmo del precio por metro cuadrado con LightGBM. La decisión clave fue la validación: como la misma unidad aparece varias veces, un split aleatorio deja copias del mismo departamento en train y en test y el error sale optimista. Por eso el test se agrupa por unidad. El texto del aviso se usa sin montos, para que el modelo no lea el precio de la descripción.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final se equivoca, en la mediana, un 9,9 % sobre departamentos que nunca vio, contra 18,5 % de la regla simple de mediana del barrio por metro cuadrado. La mitad de las predicciones cae dentro de más o menos 10 %, y el intervalo del 80 % está bien calibrado. La conclusión para Web Mining es que el mayor salto vino de entender los datos scrapeados: duplicados, fuga y limpieza. Límites: es una sola foto del mercado y son precios publicados, no de cierre.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7F6F2"/>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399480"/>
            <a:ext cx="10566400" cy="502841"/>
          </a:xfrm>
          <a:prstGeom prst="rect">
            <a:avLst/>
          </a:prstGeom>
          <a:noFill/>
          <a:ln/>
        </p:spPr>
        <p:txBody>
          <a:bodyPr wrap="square" lIns="0" tIns="0" rIns="0" bIns="0" rtlCol="0" anchor="t"/>
          <a:lstStyle>
            <a:lvl1pPr algn="l" indent="0" marL="0">
              <a:lnSpc>
                <a:spcPct val="115000"/>
              </a:lnSpc>
              <a:buNone/>
              <a:defRPr lang="en-US" sz="3600" dirty="0">
                <a:solidFill>
                  <a:srgbClr val="14213D"/>
                </a:solidFill>
                <a:latin typeface="Rubik" pitchFamily="34" charset="0"/>
                <a:ea typeface="Rubik" pitchFamily="34" charset="-122"/>
                <a:cs typeface="Rubik"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2207121"/>
            <a:ext cx="10566400" cy="3838079"/>
          </a:xfrm>
          <a:prstGeom prst="rect">
            <a:avLst/>
          </a:prstGeom>
          <a:noFill/>
          <a:ln/>
        </p:spPr>
        <p:txBody>
          <a:bodyPr wrap="square" lIns="0" tIns="0" rIns="0" bIns="0" rtlCol="0" anchor="t"/>
          <a:lstStyle>
            <a:lvl1pPr algn="l" indent="0" marL="0">
              <a:lnSpc>
                <a:spcPct val="140000"/>
              </a:lnSpc>
              <a:buNone/>
              <a:defRPr lang="en-US" sz="1600" dirty="0">
                <a:solidFill>
                  <a:srgbClr val="14213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7F6F2"/>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399480"/>
            <a:ext cx="10566400" cy="502841"/>
          </a:xfrm>
          <a:prstGeom prst="rect">
            <a:avLst/>
          </a:prstGeom>
          <a:noFill/>
          <a:ln/>
        </p:spPr>
        <p:txBody>
          <a:bodyPr wrap="square" lIns="0" tIns="0" rIns="0" bIns="0" rtlCol="0" anchor="t"/>
          <a:lstStyle>
            <a:lvl1pPr algn="l" indent="0" marL="0">
              <a:lnSpc>
                <a:spcPct val="115000"/>
              </a:lnSpc>
              <a:buNone/>
              <a:defRPr lang="en-US" sz="3600" dirty="0">
                <a:solidFill>
                  <a:srgbClr val="14213D"/>
                </a:solidFill>
                <a:latin typeface="Rubik" pitchFamily="34" charset="0"/>
                <a:ea typeface="Rubik" pitchFamily="34" charset="-122"/>
                <a:cs typeface="Rubik"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2207121"/>
            <a:ext cx="10566400" cy="3838079"/>
          </a:xfrm>
          <a:prstGeom prst="rect">
            <a:avLst/>
          </a:prstGeom>
          <a:noFill/>
          <a:ln/>
        </p:spPr>
        <p:txBody>
          <a:bodyPr wrap="square" lIns="0" tIns="0" rIns="0" bIns="0" rtlCol="0" anchor="t"/>
          <a:lstStyle>
            <a:lvl1pPr algn="l" indent="0" marL="0">
              <a:lnSpc>
                <a:spcPct val="140000"/>
              </a:lnSpc>
              <a:buNone/>
              <a:defRPr lang="en-US" sz="1600" dirty="0">
                <a:solidFill>
                  <a:srgbClr val="14213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E8590C"/>
          </a:solidFill>
          <a:ln/>
        </p:spPr>
      </p:sp>
      <p:sp>
        <p:nvSpPr>
          <p:cNvPr id="3" name="Text 1"/>
          <p:cNvSpPr/>
          <p:nvPr/>
        </p:nvSpPr>
        <p:spPr>
          <a:xfrm>
            <a:off x="812800" y="81280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b="1" spc="200" kern="0" dirty="0">
                <a:solidFill>
                  <a:srgbClr val="F4A261"/>
                </a:solidFill>
                <a:latin typeface="IBM Plex Sans" pitchFamily="34" charset="0"/>
                <a:ea typeface="IBM Plex Sans" pitchFamily="34" charset="-122"/>
                <a:cs typeface="IBM Plex Sans" pitchFamily="34" charset="-120"/>
              </a:rPr>
              <a:t>WEB MINING · TRABAJO INTEGRADOR</a:t>
            </a:r>
            <a:endParaRPr lang="en-US" sz="1400" dirty="0"/>
          </a:p>
        </p:txBody>
      </p:sp>
      <p:sp>
        <p:nvSpPr>
          <p:cNvPr id="4" name="Text 2"/>
          <p:cNvSpPr/>
          <p:nvPr>
            <p:ph type="title"/>
          </p:nvPr>
        </p:nvSpPr>
        <p:spPr>
          <a:xfrm>
            <a:off x="812800" y="2564209"/>
            <a:ext cx="10883392" cy="825500"/>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F7F6F2"/>
                </a:solidFill>
                <a:latin typeface="Rubik" pitchFamily="34" charset="0"/>
                <a:ea typeface="Rubik" pitchFamily="34" charset="-122"/>
                <a:cs typeface="Rubik" pitchFamily="34" charset="-120"/>
              </a:rPr>
              <a:t>ZonaProp Scraper</a:t>
            </a:r>
            <a:endParaRPr lang="en-US" sz="6000" dirty="0"/>
          </a:p>
        </p:txBody>
      </p:sp>
      <p:sp>
        <p:nvSpPr>
          <p:cNvPr id="5" name="Text 3"/>
          <p:cNvSpPr/>
          <p:nvPr/>
        </p:nvSpPr>
        <p:spPr>
          <a:xfrm>
            <a:off x="812800" y="3567509"/>
            <a:ext cx="8502650" cy="751681"/>
          </a:xfrm>
          <a:prstGeom prst="rect">
            <a:avLst/>
          </a:prstGeom>
          <a:noFill/>
          <a:ln/>
        </p:spPr>
        <p:txBody>
          <a:bodyPr wrap="square" lIns="0" tIns="0" rIns="0" bIns="0" rtlCol="0" anchor="t">
            <a:normAutofit/>
          </a:bodyPr>
          <a:lstStyle/>
          <a:p>
            <a:pPr algn="l" indent="0" marL="0">
              <a:lnSpc>
                <a:spcPts val="2860"/>
              </a:lnSpc>
              <a:buNone/>
            </a:pPr>
            <a:r>
              <a:rPr lang="en-US" sz="2200" dirty="0">
                <a:solidFill>
                  <a:srgbClr val="C9D3E6"/>
                </a:solidFill>
                <a:latin typeface="IBM Plex Sans" pitchFamily="34" charset="0"/>
                <a:ea typeface="IBM Plex Sans" pitchFamily="34" charset="-122"/>
                <a:cs typeface="IBM Plex Sans" pitchFamily="34" charset="-120"/>
              </a:rPr>
              <a:t>Del listado web a un modelo de precio de departamentos en CABA</a:t>
            </a:r>
            <a:endParaRPr lang="en-US" sz="2200" dirty="0"/>
          </a:p>
        </p:txBody>
      </p:sp>
      <p:sp>
        <p:nvSpPr>
          <p:cNvPr id="6" name="Text 4"/>
          <p:cNvSpPr/>
          <p:nvPr/>
        </p:nvSpPr>
        <p:spPr>
          <a:xfrm>
            <a:off x="812800" y="5796359"/>
            <a:ext cx="1253371"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C9D3E6"/>
                </a:solidFill>
                <a:latin typeface="IBM Plex Sans" pitchFamily="34" charset="0"/>
                <a:ea typeface="IBM Plex Sans" pitchFamily="34" charset="-122"/>
                <a:cs typeface="IBM Plex Sans" pitchFamily="34" charset="-120"/>
              </a:rPr>
              <a:t>[Integrantes]</a:t>
            </a:r>
            <a:endParaRPr lang="en-US" sz="1400" dirty="0"/>
          </a:p>
        </p:txBody>
      </p:sp>
      <p:sp>
        <p:nvSpPr>
          <p:cNvPr id="7" name="Text 5"/>
          <p:cNvSpPr/>
          <p:nvPr/>
        </p:nvSpPr>
        <p:spPr>
          <a:xfrm>
            <a:off x="2263676" y="5796359"/>
            <a:ext cx="2038112"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C9D3E6"/>
                </a:solidFill>
                <a:latin typeface="IBM Plex Sans" pitchFamily="34" charset="0"/>
                <a:ea typeface="IBM Plex Sans" pitchFamily="34" charset="-122"/>
                <a:cs typeface="IBM Plex Sans" pitchFamily="34" charset="-120"/>
              </a:rPr>
              <a:t>[Fecha de la defensa]</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B4470A"/>
                </a:solidFill>
                <a:latin typeface="IBM Plex Sans" pitchFamily="34" charset="0"/>
                <a:ea typeface="IBM Plex Sans" pitchFamily="34" charset="-122"/>
                <a:cs typeface="IBM Plex Sans" pitchFamily="34" charset="-120"/>
              </a:rPr>
              <a:t>1 · EL PROBLEMA</a:t>
            </a:r>
            <a:endParaRPr lang="en-US" sz="1300" dirty="0"/>
          </a:p>
        </p:txBody>
      </p:sp>
      <p:sp>
        <p:nvSpPr>
          <p:cNvPr id="3" name="Text 1"/>
          <p:cNvSpPr/>
          <p:nvPr>
            <p:ph type="title"/>
          </p:nvPr>
        </p:nvSpPr>
        <p:spPr>
          <a:xfrm>
            <a:off x="812800" y="1399480"/>
            <a:ext cx="9810750" cy="103108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Rubik" pitchFamily="34" charset="0"/>
                <a:ea typeface="Rubik" pitchFamily="34" charset="-122"/>
                <a:cs typeface="Rubik" pitchFamily="34" charset="-120"/>
              </a:rPr>
              <a:t>¿Cuánto debería valer un departamento en CABA según sus características?</a:t>
            </a:r>
            <a:endParaRPr lang="en-US" sz="3600" dirty="0"/>
          </a:p>
        </p:txBody>
      </p:sp>
      <p:sp>
        <p:nvSpPr>
          <p:cNvPr id="4" name="Shape 2"/>
          <p:cNvSpPr/>
          <p:nvPr/>
        </p:nvSpPr>
        <p:spPr>
          <a:xfrm>
            <a:off x="815975" y="2763937"/>
            <a:ext cx="3380284" cy="1885553"/>
          </a:xfrm>
          <a:prstGeom prst="roundRect">
            <a:avLst>
              <a:gd name="adj" fmla="val 5220"/>
            </a:avLst>
          </a:prstGeom>
          <a:solidFill>
            <a:srgbClr val="FFFFFF"/>
          </a:solidFill>
          <a:ln w="6350">
            <a:solidFill>
              <a:srgbClr val="DDD9CF"/>
            </a:solidFill>
            <a:prstDash val="solid"/>
          </a:ln>
        </p:spPr>
      </p:sp>
      <p:sp>
        <p:nvSpPr>
          <p:cNvPr id="5" name="Text 3"/>
          <p:cNvSpPr/>
          <p:nvPr/>
        </p:nvSpPr>
        <p:spPr>
          <a:xfrm>
            <a:off x="1073150" y="3021112"/>
            <a:ext cx="2951912"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Rubik" pitchFamily="34" charset="0"/>
                <a:ea typeface="Rubik" pitchFamily="34" charset="-122"/>
                <a:cs typeface="Rubik" pitchFamily="34" charset="-120"/>
              </a:rPr>
              <a:t>El dato no está abierto</a:t>
            </a:r>
            <a:endParaRPr lang="en-US" sz="1800" dirty="0"/>
          </a:p>
        </p:txBody>
      </p:sp>
      <p:sp>
        <p:nvSpPr>
          <p:cNvPr id="6" name="Text 4"/>
          <p:cNvSpPr/>
          <p:nvPr/>
        </p:nvSpPr>
        <p:spPr>
          <a:xfrm>
            <a:off x="1073150" y="3396952"/>
            <a:ext cx="2951912" cy="771922"/>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ZonaProp concentra la oferta pero no tiene API pública: hay que extraerla de la web.</a:t>
            </a:r>
            <a:endParaRPr lang="en-US" sz="1400" dirty="0"/>
          </a:p>
        </p:txBody>
      </p:sp>
      <p:sp>
        <p:nvSpPr>
          <p:cNvPr id="7" name="Shape 5"/>
          <p:cNvSpPr/>
          <p:nvPr/>
        </p:nvSpPr>
        <p:spPr>
          <a:xfrm>
            <a:off x="4405809" y="2763937"/>
            <a:ext cx="3380383" cy="1885553"/>
          </a:xfrm>
          <a:prstGeom prst="roundRect">
            <a:avLst>
              <a:gd name="adj" fmla="val 5220"/>
            </a:avLst>
          </a:prstGeom>
          <a:solidFill>
            <a:srgbClr val="FFFFFF"/>
          </a:solidFill>
          <a:ln w="6350">
            <a:solidFill>
              <a:srgbClr val="DDD9CF"/>
            </a:solidFill>
            <a:prstDash val="solid"/>
          </a:ln>
        </p:spPr>
      </p:sp>
      <p:sp>
        <p:nvSpPr>
          <p:cNvPr id="8" name="Text 6"/>
          <p:cNvSpPr/>
          <p:nvPr/>
        </p:nvSpPr>
        <p:spPr>
          <a:xfrm>
            <a:off x="4662984" y="3021112"/>
            <a:ext cx="2952014"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Rubik" pitchFamily="34" charset="0"/>
                <a:ea typeface="Rubik" pitchFamily="34" charset="-122"/>
                <a:cs typeface="Rubik" pitchFamily="34" charset="-120"/>
              </a:rPr>
              <a:t>La pregunta</a:t>
            </a:r>
            <a:endParaRPr lang="en-US" sz="1800" dirty="0"/>
          </a:p>
        </p:txBody>
      </p:sp>
      <p:sp>
        <p:nvSpPr>
          <p:cNvPr id="9" name="Text 7"/>
          <p:cNvSpPr/>
          <p:nvPr/>
        </p:nvSpPr>
        <p:spPr>
          <a:xfrm>
            <a:off x="4662984" y="3396952"/>
            <a:ext cx="2952014" cy="1020763"/>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Estimar el precio publicado en USD de un departamento en venta a partir de barrio, m², ambientes y lo que dice el aviso.</a:t>
            </a:r>
            <a:endParaRPr lang="en-US" sz="1400" dirty="0"/>
          </a:p>
        </p:txBody>
      </p:sp>
      <p:sp>
        <p:nvSpPr>
          <p:cNvPr id="10" name="Shape 8"/>
          <p:cNvSpPr/>
          <p:nvPr/>
        </p:nvSpPr>
        <p:spPr>
          <a:xfrm>
            <a:off x="7995741" y="2763937"/>
            <a:ext cx="3380284" cy="1885553"/>
          </a:xfrm>
          <a:prstGeom prst="roundRect">
            <a:avLst>
              <a:gd name="adj" fmla="val 5220"/>
            </a:avLst>
          </a:prstGeom>
          <a:solidFill>
            <a:srgbClr val="FFFFFF"/>
          </a:solidFill>
          <a:ln w="6350">
            <a:solidFill>
              <a:srgbClr val="DDD9CF"/>
            </a:solidFill>
            <a:prstDash val="solid"/>
          </a:ln>
        </p:spPr>
      </p:sp>
      <p:sp>
        <p:nvSpPr>
          <p:cNvPr id="11" name="Text 9"/>
          <p:cNvSpPr/>
          <p:nvPr/>
        </p:nvSpPr>
        <p:spPr>
          <a:xfrm>
            <a:off x="8252916" y="3021112"/>
            <a:ext cx="2951912"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4213D"/>
                </a:solidFill>
                <a:latin typeface="Rubik" pitchFamily="34" charset="0"/>
                <a:ea typeface="Rubik" pitchFamily="34" charset="-122"/>
                <a:cs typeface="Rubik" pitchFamily="34" charset="-120"/>
              </a:rPr>
              <a:t>El entregable</a:t>
            </a:r>
            <a:endParaRPr lang="en-US" sz="1800" dirty="0"/>
          </a:p>
        </p:txBody>
      </p:sp>
      <p:sp>
        <p:nvSpPr>
          <p:cNvPr id="12" name="Text 10"/>
          <p:cNvSpPr/>
          <p:nvPr/>
        </p:nvSpPr>
        <p:spPr>
          <a:xfrm>
            <a:off x="8252916" y="3396952"/>
            <a:ext cx="2951912" cy="771922"/>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Scraper reutilizable, dataset de 105 mil avisos, control de calidad y modelo con interfaz local.</a:t>
            </a:r>
            <a:endParaRPr lang="en-US" sz="1400" dirty="0"/>
          </a:p>
        </p:txBody>
      </p:sp>
      <p:sp>
        <p:nvSpPr>
          <p:cNvPr id="13" name="Text 11"/>
          <p:cNvSpPr/>
          <p:nvPr/>
        </p:nvSpPr>
        <p:spPr>
          <a:xfrm>
            <a:off x="812800" y="6238280"/>
            <a:ext cx="632388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280"/>
                </a:solidFill>
                <a:latin typeface="IBM Plex Sans" pitchFamily="34" charset="0"/>
                <a:ea typeface="IBM Plex Sans" pitchFamily="34" charset="-122"/>
                <a:cs typeface="IBM Plex Sans" pitchFamily="34" charset="-120"/>
              </a:rPr>
              <a:t>Foco de Web Mining: que la extracción sea completa, correcta y reproducible.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B4470A"/>
                </a:solidFill>
                <a:latin typeface="IBM Plex Sans" pitchFamily="34" charset="0"/>
                <a:ea typeface="IBM Plex Sans" pitchFamily="34" charset="-122"/>
                <a:cs typeface="IBM Plex Sans" pitchFamily="34" charset="-120"/>
              </a:rPr>
              <a:t>2 · ARQUITECTURA</a:t>
            </a:r>
            <a:endParaRPr lang="en-US" sz="1300" dirty="0"/>
          </a:p>
        </p:txBody>
      </p:sp>
      <p:sp>
        <p:nvSpPr>
          <p:cNvPr id="3" name="Text 1"/>
          <p:cNvSpPr/>
          <p:nvPr>
            <p:ph type="title"/>
          </p:nvPr>
        </p:nvSpPr>
        <p:spPr>
          <a:xfrm>
            <a:off x="812800" y="145028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Rubik" pitchFamily="34" charset="0"/>
                <a:ea typeface="Rubik" pitchFamily="34" charset="-122"/>
                <a:cs typeface="Rubik" pitchFamily="34" charset="-120"/>
              </a:rPr>
              <a:t>Cuatro piezas, una sola máquina</a:t>
            </a:r>
            <a:endParaRPr lang="en-US" sz="3600" dirty="0"/>
          </a:p>
        </p:txBody>
      </p:sp>
      <p:sp>
        <p:nvSpPr>
          <p:cNvPr id="4" name="Shape 2"/>
          <p:cNvSpPr/>
          <p:nvPr/>
        </p:nvSpPr>
        <p:spPr>
          <a:xfrm>
            <a:off x="812800" y="2359521"/>
            <a:ext cx="2174875" cy="2044402"/>
          </a:xfrm>
          <a:prstGeom prst="roundRect">
            <a:avLst>
              <a:gd name="adj" fmla="val 4970"/>
            </a:avLst>
          </a:prstGeom>
          <a:solidFill>
            <a:srgbClr val="14213D"/>
          </a:solidFill>
          <a:ln/>
        </p:spPr>
      </p:sp>
      <p:sp>
        <p:nvSpPr>
          <p:cNvPr id="5" name="Text 3"/>
          <p:cNvSpPr/>
          <p:nvPr/>
        </p:nvSpPr>
        <p:spPr>
          <a:xfrm>
            <a:off x="1041400" y="2588121"/>
            <a:ext cx="176920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4A261"/>
                </a:solidFill>
                <a:latin typeface="IBM Plex Sans" pitchFamily="34" charset="0"/>
                <a:ea typeface="IBM Plex Sans" pitchFamily="34" charset="-122"/>
                <a:cs typeface="IBM Plex Sans" pitchFamily="34" charset="-120"/>
              </a:rPr>
              <a:t>Adquisición</a:t>
            </a:r>
            <a:endParaRPr lang="en-US" sz="1200" dirty="0"/>
          </a:p>
        </p:txBody>
      </p:sp>
      <p:sp>
        <p:nvSpPr>
          <p:cNvPr id="6" name="Text 4"/>
          <p:cNvSpPr/>
          <p:nvPr/>
        </p:nvSpPr>
        <p:spPr>
          <a:xfrm>
            <a:off x="1041400" y="2890341"/>
            <a:ext cx="1769205"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F7F6F2"/>
                </a:solidFill>
                <a:latin typeface="Rubik" pitchFamily="34" charset="0"/>
                <a:ea typeface="Rubik" pitchFamily="34" charset="-122"/>
                <a:cs typeface="Rubik" pitchFamily="34" charset="-120"/>
              </a:rPr>
              <a:t>Crawler</a:t>
            </a:r>
            <a:endParaRPr lang="en-US" sz="1700" dirty="0"/>
          </a:p>
        </p:txBody>
      </p:sp>
      <p:sp>
        <p:nvSpPr>
          <p:cNvPr id="7" name="Text 5"/>
          <p:cNvSpPr/>
          <p:nvPr/>
        </p:nvSpPr>
        <p:spPr>
          <a:xfrm>
            <a:off x="1041400" y="3238302"/>
            <a:ext cx="1769205" cy="71864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C9D3E6"/>
                </a:solidFill>
                <a:latin typeface="IBM Plex Sans" pitchFamily="34" charset="0"/>
                <a:ea typeface="IBM Plex Sans" pitchFamily="34" charset="-122"/>
                <a:cs typeface="IBM Plex Sans" pitchFamily="34" charset="-120"/>
              </a:rPr>
              <a:t>Node.js + Puppeteer sobre Chrome real; parsers con Cheerio</a:t>
            </a:r>
            <a:endParaRPr lang="en-US" sz="1300" dirty="0"/>
          </a:p>
        </p:txBody>
      </p:sp>
      <p:pic>
        <p:nvPicPr>
          <p:cNvPr id="8" name="Image 0" descr="connector">    </p:cNvPr>
          <p:cNvPicPr>
            <a:picLocks noChangeAspect="1"/>
          </p:cNvPicPr>
          <p:nvPr/>
        </p:nvPicPr>
        <p:blipFill>
          <a:blip r:embed="rId1"/>
          <a:srcRect l="0" r="0" t="0" b="0"/>
          <a:stretch/>
        </p:blipFill>
        <p:spPr>
          <a:xfrm>
            <a:off x="3114675" y="3318173"/>
            <a:ext cx="355600" cy="127000"/>
          </a:xfrm>
          <a:prstGeom prst="rect">
            <a:avLst/>
          </a:prstGeom>
        </p:spPr>
      </p:pic>
      <p:sp>
        <p:nvSpPr>
          <p:cNvPr id="9" name="Shape 6"/>
          <p:cNvSpPr/>
          <p:nvPr/>
        </p:nvSpPr>
        <p:spPr>
          <a:xfrm>
            <a:off x="3600450" y="2362696"/>
            <a:ext cx="2181225" cy="2038052"/>
          </a:xfrm>
          <a:prstGeom prst="roundRect">
            <a:avLst>
              <a:gd name="adj" fmla="val 4829"/>
            </a:avLst>
          </a:prstGeom>
          <a:solidFill>
            <a:srgbClr val="FFFFFF"/>
          </a:solidFill>
          <a:ln w="6350">
            <a:solidFill>
              <a:srgbClr val="DDD9CF"/>
            </a:solidFill>
            <a:prstDash val="solid"/>
          </a:ln>
        </p:spPr>
      </p:sp>
      <p:sp>
        <p:nvSpPr>
          <p:cNvPr id="10" name="Text 7"/>
          <p:cNvSpPr/>
          <p:nvPr/>
        </p:nvSpPr>
        <p:spPr>
          <a:xfrm>
            <a:off x="3832225" y="2594471"/>
            <a:ext cx="176920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4470A"/>
                </a:solidFill>
                <a:latin typeface="IBM Plex Sans" pitchFamily="34" charset="0"/>
                <a:ea typeface="IBM Plex Sans" pitchFamily="34" charset="-122"/>
                <a:cs typeface="IBM Plex Sans" pitchFamily="34" charset="-120"/>
              </a:rPr>
              <a:t>Almacenamiento</a:t>
            </a:r>
            <a:endParaRPr lang="en-US" sz="1200" dirty="0"/>
          </a:p>
        </p:txBody>
      </p:sp>
      <p:sp>
        <p:nvSpPr>
          <p:cNvPr id="11" name="Text 8"/>
          <p:cNvSpPr/>
          <p:nvPr/>
        </p:nvSpPr>
        <p:spPr>
          <a:xfrm>
            <a:off x="3832225" y="2896691"/>
            <a:ext cx="1769205"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13D"/>
                </a:solidFill>
                <a:latin typeface="Rubik" pitchFamily="34" charset="0"/>
                <a:ea typeface="Rubik" pitchFamily="34" charset="-122"/>
                <a:cs typeface="Rubik" pitchFamily="34" charset="-120"/>
              </a:rPr>
              <a:t>JSONL</a:t>
            </a:r>
            <a:endParaRPr lang="en-US" sz="1700" dirty="0"/>
          </a:p>
        </p:txBody>
      </p:sp>
      <p:sp>
        <p:nvSpPr>
          <p:cNvPr id="12" name="Text 9"/>
          <p:cNvSpPr/>
          <p:nvPr/>
        </p:nvSpPr>
        <p:spPr>
          <a:xfrm>
            <a:off x="3832225" y="3244652"/>
            <a:ext cx="1769205" cy="949722"/>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Un aviso por línea, escrito al leerlo; frontier.json guarda el avance</a:t>
            </a:r>
            <a:endParaRPr lang="en-US" sz="1300" dirty="0"/>
          </a:p>
        </p:txBody>
      </p:sp>
      <p:pic>
        <p:nvPicPr>
          <p:cNvPr id="13" name="Image 1" descr="connector">    </p:cNvPr>
          <p:cNvPicPr>
            <a:picLocks noChangeAspect="1"/>
          </p:cNvPicPr>
          <p:nvPr/>
        </p:nvPicPr>
        <p:blipFill>
          <a:blip r:embed="rId2"/>
          <a:srcRect l="0" r="0" t="0" b="0"/>
          <a:stretch/>
        </p:blipFill>
        <p:spPr>
          <a:xfrm>
            <a:off x="5911850" y="3318173"/>
            <a:ext cx="355600" cy="127000"/>
          </a:xfrm>
          <a:prstGeom prst="rect">
            <a:avLst/>
          </a:prstGeom>
        </p:spPr>
      </p:pic>
      <p:sp>
        <p:nvSpPr>
          <p:cNvPr id="14" name="Shape 10"/>
          <p:cNvSpPr/>
          <p:nvPr/>
        </p:nvSpPr>
        <p:spPr>
          <a:xfrm>
            <a:off x="6397625" y="2362696"/>
            <a:ext cx="2181225" cy="2038052"/>
          </a:xfrm>
          <a:prstGeom prst="roundRect">
            <a:avLst>
              <a:gd name="adj" fmla="val 4829"/>
            </a:avLst>
          </a:prstGeom>
          <a:solidFill>
            <a:srgbClr val="FFFFFF"/>
          </a:solidFill>
          <a:ln w="6350">
            <a:solidFill>
              <a:srgbClr val="DDD9CF"/>
            </a:solidFill>
            <a:prstDash val="solid"/>
          </a:ln>
        </p:spPr>
      </p:sp>
      <p:sp>
        <p:nvSpPr>
          <p:cNvPr id="15" name="Text 11"/>
          <p:cNvSpPr/>
          <p:nvPr/>
        </p:nvSpPr>
        <p:spPr>
          <a:xfrm>
            <a:off x="6629400" y="2594471"/>
            <a:ext cx="176920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4470A"/>
                </a:solidFill>
                <a:latin typeface="IBM Plex Sans" pitchFamily="34" charset="0"/>
                <a:ea typeface="IBM Plex Sans" pitchFamily="34" charset="-122"/>
                <a:cs typeface="IBM Plex Sans" pitchFamily="34" charset="-120"/>
              </a:rPr>
              <a:t>Análisis</a:t>
            </a:r>
            <a:endParaRPr lang="en-US" sz="1200" dirty="0"/>
          </a:p>
        </p:txBody>
      </p:sp>
      <p:sp>
        <p:nvSpPr>
          <p:cNvPr id="16" name="Text 12"/>
          <p:cNvSpPr/>
          <p:nvPr/>
        </p:nvSpPr>
        <p:spPr>
          <a:xfrm>
            <a:off x="6629400" y="2896691"/>
            <a:ext cx="1769205"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13D"/>
                </a:solidFill>
                <a:latin typeface="Rubik" pitchFamily="34" charset="0"/>
                <a:ea typeface="Rubik" pitchFamily="34" charset="-122"/>
                <a:cs typeface="Rubik" pitchFamily="34" charset="-120"/>
              </a:rPr>
              <a:t>Python</a:t>
            </a:r>
            <a:endParaRPr lang="en-US" sz="1700" dirty="0"/>
          </a:p>
        </p:txBody>
      </p:sp>
      <p:sp>
        <p:nvSpPr>
          <p:cNvPr id="17" name="Text 13"/>
          <p:cNvSpPr/>
          <p:nvPr/>
        </p:nvSpPr>
        <p:spPr>
          <a:xfrm>
            <a:off x="6629400" y="3244652"/>
            <a:ext cx="1769205" cy="71864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pandas, scikit-learn, LightGBM: calidad de datos y modelos</a:t>
            </a:r>
            <a:endParaRPr lang="en-US" sz="1300" dirty="0"/>
          </a:p>
        </p:txBody>
      </p:sp>
      <p:pic>
        <p:nvPicPr>
          <p:cNvPr id="18" name="Image 2" descr="connector">    </p:cNvPr>
          <p:cNvPicPr>
            <a:picLocks noChangeAspect="1"/>
          </p:cNvPicPr>
          <p:nvPr/>
        </p:nvPicPr>
        <p:blipFill>
          <a:blip r:embed="rId3"/>
          <a:srcRect l="0" r="0" t="0" b="0"/>
          <a:stretch/>
        </p:blipFill>
        <p:spPr>
          <a:xfrm>
            <a:off x="8709025" y="3318173"/>
            <a:ext cx="355600" cy="127000"/>
          </a:xfrm>
          <a:prstGeom prst="rect">
            <a:avLst/>
          </a:prstGeom>
        </p:spPr>
      </p:pic>
      <p:sp>
        <p:nvSpPr>
          <p:cNvPr id="19" name="Shape 14"/>
          <p:cNvSpPr/>
          <p:nvPr/>
        </p:nvSpPr>
        <p:spPr>
          <a:xfrm>
            <a:off x="9194800" y="2362696"/>
            <a:ext cx="2181225" cy="2038052"/>
          </a:xfrm>
          <a:prstGeom prst="roundRect">
            <a:avLst>
              <a:gd name="adj" fmla="val 4829"/>
            </a:avLst>
          </a:prstGeom>
          <a:solidFill>
            <a:srgbClr val="FFFFFF"/>
          </a:solidFill>
          <a:ln w="6350">
            <a:solidFill>
              <a:srgbClr val="DDD9CF"/>
            </a:solidFill>
            <a:prstDash val="solid"/>
          </a:ln>
        </p:spPr>
      </p:sp>
      <p:sp>
        <p:nvSpPr>
          <p:cNvPr id="20" name="Text 15"/>
          <p:cNvSpPr/>
          <p:nvPr/>
        </p:nvSpPr>
        <p:spPr>
          <a:xfrm>
            <a:off x="9426575" y="2594471"/>
            <a:ext cx="176920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4470A"/>
                </a:solidFill>
                <a:latin typeface="IBM Plex Sans" pitchFamily="34" charset="0"/>
                <a:ea typeface="IBM Plex Sans" pitchFamily="34" charset="-122"/>
                <a:cs typeface="IBM Plex Sans" pitchFamily="34" charset="-120"/>
              </a:rPr>
              <a:t>Uso</a:t>
            </a:r>
            <a:endParaRPr lang="en-US" sz="1200" dirty="0"/>
          </a:p>
        </p:txBody>
      </p:sp>
      <p:sp>
        <p:nvSpPr>
          <p:cNvPr id="21" name="Text 16"/>
          <p:cNvSpPr/>
          <p:nvPr/>
        </p:nvSpPr>
        <p:spPr>
          <a:xfrm>
            <a:off x="9426575" y="2896691"/>
            <a:ext cx="1769205"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13D"/>
                </a:solidFill>
                <a:latin typeface="Rubik" pitchFamily="34" charset="0"/>
                <a:ea typeface="Rubik" pitchFamily="34" charset="-122"/>
                <a:cs typeface="Rubik" pitchFamily="34" charset="-120"/>
              </a:rPr>
              <a:t>Interfaz local</a:t>
            </a:r>
            <a:endParaRPr lang="en-US" sz="1700" dirty="0"/>
          </a:p>
        </p:txBody>
      </p:sp>
      <p:sp>
        <p:nvSpPr>
          <p:cNvPr id="22" name="Text 17"/>
          <p:cNvSpPr/>
          <p:nvPr/>
        </p:nvSpPr>
        <p:spPr>
          <a:xfrm>
            <a:off x="9426575" y="3244652"/>
            <a:ext cx="1769205" cy="71864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Tres pantallas: Scraper, Calidad de datos y Modelos</a:t>
            </a:r>
            <a:endParaRPr lang="en-US" sz="1300" dirty="0"/>
          </a:p>
        </p:txBody>
      </p:sp>
      <p:sp>
        <p:nvSpPr>
          <p:cNvPr id="23" name="Text 18"/>
          <p:cNvSpPr/>
          <p:nvPr/>
        </p:nvSpPr>
        <p:spPr>
          <a:xfrm>
            <a:off x="812800" y="4810323"/>
            <a:ext cx="9810750"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El servidor Node lanza el crawler y, como proceso hijo, los análisis en Python; cada corrida queda guardada con sus parámetros, métricas y gráficos.</a:t>
            </a:r>
            <a:endParaRPr lang="en-US" sz="1400" dirty="0"/>
          </a:p>
        </p:txBody>
      </p:sp>
      <p:sp>
        <p:nvSpPr>
          <p:cNvPr id="24" name="Text 19"/>
          <p:cNvSpPr/>
          <p:nvPr/>
        </p:nvSpPr>
        <p:spPr>
          <a:xfrm>
            <a:off x="812800" y="6238280"/>
            <a:ext cx="4670584"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280"/>
                </a:solidFill>
                <a:latin typeface="IBM Plex Sans" pitchFamily="34" charset="0"/>
                <a:ea typeface="IBM Plex Sans" pitchFamily="34" charset="-122"/>
                <a:cs typeface="IBM Plex Sans" pitchFamily="34" charset="-120"/>
              </a:rPr>
              <a:t>src/crawler.js · src/parse/ · ml/run.py · ml/calidad.py · ui/</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B4470A"/>
                </a:solidFill>
                <a:latin typeface="IBM Plex Sans" pitchFamily="34" charset="0"/>
                <a:ea typeface="IBM Plex Sans" pitchFamily="34" charset="-122"/>
                <a:cs typeface="IBM Plex Sans" pitchFamily="34" charset="-120"/>
              </a:rPr>
              <a:t>3 · WEB SCRAPER</a:t>
            </a:r>
            <a:endParaRPr lang="en-US" sz="1300" dirty="0"/>
          </a:p>
        </p:txBody>
      </p:sp>
      <p:sp>
        <p:nvSpPr>
          <p:cNvPr id="3" name="Text 1"/>
          <p:cNvSpPr/>
          <p:nvPr>
            <p:ph type="title"/>
          </p:nvPr>
        </p:nvSpPr>
        <p:spPr>
          <a:xfrm>
            <a:off x="812800" y="139948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Rubik" pitchFamily="34" charset="0"/>
                <a:ea typeface="Rubik" pitchFamily="34" charset="-122"/>
                <a:cs typeface="Rubik" pitchFamily="34" charset="-120"/>
              </a:rPr>
              <a:t>Recorrer los listados como una persona</a:t>
            </a:r>
            <a:endParaRPr lang="en-US" sz="3600" dirty="0"/>
          </a:p>
        </p:txBody>
      </p:sp>
      <p:sp>
        <p:nvSpPr>
          <p:cNvPr id="4" name="Text 2"/>
          <p:cNvSpPr/>
          <p:nvPr/>
        </p:nvSpPr>
        <p:spPr>
          <a:xfrm>
            <a:off x="812800" y="2257921"/>
            <a:ext cx="3401060"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14213D"/>
                </a:solidFill>
                <a:latin typeface="Rubik" pitchFamily="34" charset="0"/>
                <a:ea typeface="Rubik" pitchFamily="34" charset="-122"/>
                <a:cs typeface="Rubik" pitchFamily="34" charset="-120"/>
              </a:rPr>
              <a:t>105.413</a:t>
            </a:r>
            <a:endParaRPr lang="en-US" sz="4800" dirty="0"/>
          </a:p>
        </p:txBody>
      </p:sp>
      <p:sp>
        <p:nvSpPr>
          <p:cNvPr id="5" name="Text 3"/>
          <p:cNvSpPr/>
          <p:nvPr/>
        </p:nvSpPr>
        <p:spPr>
          <a:xfrm>
            <a:off x="812800" y="2892921"/>
            <a:ext cx="3401060"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avisos de CABA guardados</a:t>
            </a:r>
            <a:endParaRPr lang="en-US" sz="1400" dirty="0"/>
          </a:p>
        </p:txBody>
      </p:sp>
      <p:sp>
        <p:nvSpPr>
          <p:cNvPr id="6" name="Text 4"/>
          <p:cNvSpPr/>
          <p:nvPr/>
        </p:nvSpPr>
        <p:spPr>
          <a:xfrm>
            <a:off x="812800" y="3319562"/>
            <a:ext cx="3401060"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B4470A"/>
                </a:solidFill>
                <a:latin typeface="Rubik" pitchFamily="34" charset="0"/>
                <a:ea typeface="Rubik" pitchFamily="34" charset="-122"/>
                <a:cs typeface="Rubik" pitchFamily="34" charset="-120"/>
              </a:rPr>
              <a:t>≈ 8 horas</a:t>
            </a:r>
            <a:endParaRPr lang="en-US" sz="2800" dirty="0"/>
          </a:p>
        </p:txBody>
      </p:sp>
      <p:sp>
        <p:nvSpPr>
          <p:cNvPr id="7" name="Text 5"/>
          <p:cNvSpPr/>
          <p:nvPr/>
        </p:nvSpPr>
        <p:spPr>
          <a:xfrm>
            <a:off x="812800" y="3700562"/>
            <a:ext cx="3401060"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15/10/2026 · venta, alquiler y temporario</a:t>
            </a:r>
            <a:endParaRPr lang="en-US" sz="1400" dirty="0"/>
          </a:p>
        </p:txBody>
      </p:sp>
      <p:sp>
        <p:nvSpPr>
          <p:cNvPr id="8" name="Text 6"/>
          <p:cNvSpPr/>
          <p:nvPr/>
        </p:nvSpPr>
        <p:spPr>
          <a:xfrm>
            <a:off x="4572000" y="2257921"/>
            <a:ext cx="3556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B4470A"/>
                </a:solidFill>
                <a:latin typeface="IBM Plex Sans" pitchFamily="34" charset="0"/>
                <a:ea typeface="IBM Plex Sans" pitchFamily="34" charset="-122"/>
                <a:cs typeface="IBM Plex Sans" pitchFamily="34" charset="-120"/>
              </a:rPr>
              <a:t>1</a:t>
            </a:r>
            <a:endParaRPr lang="en-US" sz="1500" dirty="0"/>
          </a:p>
        </p:txBody>
      </p:sp>
      <p:sp>
        <p:nvSpPr>
          <p:cNvPr id="9" name="Text 7"/>
          <p:cNvSpPr/>
          <p:nvPr/>
        </p:nvSpPr>
        <p:spPr>
          <a:xfrm>
            <a:off x="5003800" y="2257921"/>
            <a:ext cx="6566662" cy="282575"/>
          </a:xfrm>
          <a:prstGeom prst="rect">
            <a:avLst/>
          </a:prstGeom>
          <a:noFill/>
          <a:ln/>
        </p:spPr>
        <p:txBody>
          <a:bodyPr wrap="square" lIns="0" tIns="0" rIns="0" bIns="0" rtlCol="0" anchor="t">
            <a:normAutofit/>
          </a:bodyPr>
          <a:lstStyle/>
          <a:p>
            <a:pPr algn="l" indent="0" marL="0">
              <a:lnSpc>
                <a:spcPts val="2025"/>
              </a:lnSpc>
              <a:buNone/>
            </a:pPr>
            <a:r>
              <a:rPr lang="en-US" sz="1500" b="1" dirty="0">
                <a:solidFill>
                  <a:srgbClr val="14213D"/>
                </a:solidFill>
                <a:latin typeface="IBM Plex Sans" pitchFamily="34" charset="0"/>
                <a:ea typeface="IBM Plex Sans" pitchFamily="34" charset="-122"/>
                <a:cs typeface="IBM Plex Sans" pitchFamily="34" charset="-120"/>
              </a:rPr>
              <a:t>Búsquedas</a:t>
            </a:r>
            <a:r>
              <a:rPr lang="en-US" sz="1500" dirty="0">
                <a:solidFill>
                  <a:srgbClr val="14213D"/>
                </a:solidFill>
                <a:latin typeface="IBM Plex Sans" pitchFamily="34" charset="0"/>
                <a:ea typeface="IBM Plex Sans" pitchFamily="34" charset="-122"/>
                <a:cs typeface="IBM Plex Sans" pitchFamily="34" charset="-120"/>
              </a:rPr>
              <a:t> por operación × tipo × zona; 30 avisos por página.</a:t>
            </a:r>
            <a:endParaRPr lang="en-US" sz="1500" dirty="0"/>
          </a:p>
        </p:txBody>
      </p:sp>
      <p:sp>
        <p:nvSpPr>
          <p:cNvPr id="10" name="Text 8"/>
          <p:cNvSpPr/>
          <p:nvPr/>
        </p:nvSpPr>
        <p:spPr>
          <a:xfrm>
            <a:off x="4572000" y="2677021"/>
            <a:ext cx="3556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B4470A"/>
                </a:solidFill>
                <a:latin typeface="IBM Plex Sans" pitchFamily="34" charset="0"/>
                <a:ea typeface="IBM Plex Sans" pitchFamily="34" charset="-122"/>
                <a:cs typeface="IBM Plex Sans" pitchFamily="34" charset="-120"/>
              </a:rPr>
              <a:t>2</a:t>
            </a:r>
            <a:endParaRPr lang="en-US" sz="1500" dirty="0"/>
          </a:p>
        </p:txBody>
      </p:sp>
      <p:sp>
        <p:nvSpPr>
          <p:cNvPr id="11" name="Text 9"/>
          <p:cNvSpPr/>
          <p:nvPr/>
        </p:nvSpPr>
        <p:spPr>
          <a:xfrm>
            <a:off x="5003800" y="2677021"/>
            <a:ext cx="6566662" cy="539750"/>
          </a:xfrm>
          <a:prstGeom prst="rect">
            <a:avLst/>
          </a:prstGeom>
          <a:noFill/>
          <a:ln/>
        </p:spPr>
        <p:txBody>
          <a:bodyPr wrap="square" lIns="0" tIns="0" rIns="0" bIns="0" rtlCol="0" anchor="t">
            <a:normAutofit/>
          </a:bodyPr>
          <a:lstStyle/>
          <a:p>
            <a:pPr algn="l" indent="0" marL="0">
              <a:lnSpc>
                <a:spcPts val="2025"/>
              </a:lnSpc>
              <a:buNone/>
            </a:pPr>
            <a:r>
              <a:rPr lang="en-US" sz="1500" b="1" dirty="0">
                <a:solidFill>
                  <a:srgbClr val="14213D"/>
                </a:solidFill>
                <a:latin typeface="IBM Plex Sans" pitchFamily="34" charset="0"/>
                <a:ea typeface="IBM Plex Sans" pitchFamily="34" charset="-122"/>
                <a:cs typeface="IBM Plex Sans" pitchFamily="34" charset="-120"/>
              </a:rPr>
              <a:t>Parseo</a:t>
            </a:r>
            <a:r>
              <a:rPr lang="en-US" sz="1500" dirty="0">
                <a:solidFill>
                  <a:srgbClr val="14213D"/>
                </a:solidFill>
                <a:latin typeface="IBM Plex Sans" pitchFamily="34" charset="0"/>
                <a:ea typeface="IBM Plex Sans" pitchFamily="34" charset="-122"/>
                <a:cs typeface="IBM Plex Sans" pitchFamily="34" charset="-120"/>
              </a:rPr>
              <a:t> de cada tarjeta: precio, moneda, m², ambientes, expensas, ubicación, inmobiliaria.</a:t>
            </a:r>
            <a:endParaRPr lang="en-US" sz="1500" dirty="0"/>
          </a:p>
        </p:txBody>
      </p:sp>
      <p:sp>
        <p:nvSpPr>
          <p:cNvPr id="12" name="Text 10"/>
          <p:cNvSpPr/>
          <p:nvPr/>
        </p:nvSpPr>
        <p:spPr>
          <a:xfrm>
            <a:off x="4572000" y="3343771"/>
            <a:ext cx="3556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B4470A"/>
                </a:solidFill>
                <a:latin typeface="IBM Plex Sans" pitchFamily="34" charset="0"/>
                <a:ea typeface="IBM Plex Sans" pitchFamily="34" charset="-122"/>
                <a:cs typeface="IBM Plex Sans" pitchFamily="34" charset="-120"/>
              </a:rPr>
              <a:t>3</a:t>
            </a:r>
            <a:endParaRPr lang="en-US" sz="1500" dirty="0"/>
          </a:p>
        </p:txBody>
      </p:sp>
      <p:sp>
        <p:nvSpPr>
          <p:cNvPr id="13" name="Text 11"/>
          <p:cNvSpPr/>
          <p:nvPr/>
        </p:nvSpPr>
        <p:spPr>
          <a:xfrm>
            <a:off x="5003800" y="3343771"/>
            <a:ext cx="7188200" cy="282575"/>
          </a:xfrm>
          <a:prstGeom prst="rect">
            <a:avLst/>
          </a:prstGeom>
          <a:noFill/>
          <a:ln/>
        </p:spPr>
        <p:txBody>
          <a:bodyPr wrap="square" lIns="0" tIns="0" rIns="0" bIns="0" rtlCol="0" anchor="t">
            <a:normAutofit/>
          </a:bodyPr>
          <a:lstStyle/>
          <a:p>
            <a:pPr algn="l" indent="0" marL="0">
              <a:lnSpc>
                <a:spcPts val="2025"/>
              </a:lnSpc>
              <a:buNone/>
            </a:pPr>
            <a:r>
              <a:rPr lang="en-US" sz="1500" b="1" dirty="0">
                <a:solidFill>
                  <a:srgbClr val="14213D"/>
                </a:solidFill>
                <a:latin typeface="IBM Plex Sans" pitchFamily="34" charset="0"/>
                <a:ea typeface="IBM Plex Sans" pitchFamily="34" charset="-122"/>
                <a:cs typeface="IBM Plex Sans" pitchFamily="34" charset="-120"/>
              </a:rPr>
              <a:t>Guardado incremental</a:t>
            </a:r>
            <a:r>
              <a:rPr lang="en-US" sz="1500" dirty="0">
                <a:solidFill>
                  <a:srgbClr val="14213D"/>
                </a:solidFill>
                <a:latin typeface="IBM Plex Sans" pitchFamily="34" charset="0"/>
                <a:ea typeface="IBM Plex Sans" pitchFamily="34" charset="-122"/>
                <a:cs typeface="IBM Plex Sans" pitchFamily="34" charset="-120"/>
              </a:rPr>
              <a:t> con dedupe por id e historial de cambios de precio.</a:t>
            </a:r>
            <a:endParaRPr lang="en-US" sz="1500" dirty="0"/>
          </a:p>
        </p:txBody>
      </p:sp>
      <p:sp>
        <p:nvSpPr>
          <p:cNvPr id="14" name="Text 12"/>
          <p:cNvSpPr/>
          <p:nvPr/>
        </p:nvSpPr>
        <p:spPr>
          <a:xfrm>
            <a:off x="4572000" y="3762871"/>
            <a:ext cx="3556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B4470A"/>
                </a:solidFill>
                <a:latin typeface="IBM Plex Sans" pitchFamily="34" charset="0"/>
                <a:ea typeface="IBM Plex Sans" pitchFamily="34" charset="-122"/>
                <a:cs typeface="IBM Plex Sans" pitchFamily="34" charset="-120"/>
              </a:rPr>
              <a:t>4</a:t>
            </a:r>
            <a:endParaRPr lang="en-US" sz="1500" dirty="0"/>
          </a:p>
        </p:txBody>
      </p:sp>
      <p:sp>
        <p:nvSpPr>
          <p:cNvPr id="15" name="Text 13"/>
          <p:cNvSpPr/>
          <p:nvPr/>
        </p:nvSpPr>
        <p:spPr>
          <a:xfrm>
            <a:off x="5003800" y="3762871"/>
            <a:ext cx="7188200" cy="282575"/>
          </a:xfrm>
          <a:prstGeom prst="rect">
            <a:avLst/>
          </a:prstGeom>
          <a:noFill/>
          <a:ln/>
        </p:spPr>
        <p:txBody>
          <a:bodyPr wrap="square" lIns="0" tIns="0" rIns="0" bIns="0" rtlCol="0" anchor="t">
            <a:normAutofit/>
          </a:bodyPr>
          <a:lstStyle/>
          <a:p>
            <a:pPr algn="l" indent="0" marL="0">
              <a:lnSpc>
                <a:spcPts val="2025"/>
              </a:lnSpc>
              <a:buNone/>
            </a:pPr>
            <a:r>
              <a:rPr lang="en-US" sz="1500" b="1" dirty="0">
                <a:solidFill>
                  <a:srgbClr val="14213D"/>
                </a:solidFill>
                <a:latin typeface="IBM Plex Sans" pitchFamily="34" charset="0"/>
                <a:ea typeface="IBM Plex Sans" pitchFamily="34" charset="-122"/>
                <a:cs typeface="IBM Plex Sans" pitchFamily="34" charset="-120"/>
              </a:rPr>
              <a:t>Ritmo humano</a:t>
            </a:r>
            <a:r>
              <a:rPr lang="en-US" sz="1500" dirty="0">
                <a:solidFill>
                  <a:srgbClr val="14213D"/>
                </a:solidFill>
                <a:latin typeface="IBM Plex Sans" pitchFamily="34" charset="0"/>
                <a:ea typeface="IBM Plex Sans" pitchFamily="34" charset="-122"/>
                <a:cs typeface="IBM Plex Sans" pitchFamily="34" charset="-120"/>
              </a:rPr>
              <a:t>: una página cada ~5 s, pausas al azar, un solo navegador.</a:t>
            </a:r>
            <a:endParaRPr lang="en-US" sz="1500" dirty="0"/>
          </a:p>
        </p:txBody>
      </p:sp>
      <p:sp>
        <p:nvSpPr>
          <p:cNvPr id="16" name="Text 14"/>
          <p:cNvSpPr/>
          <p:nvPr/>
        </p:nvSpPr>
        <p:spPr>
          <a:xfrm>
            <a:off x="812800" y="6238280"/>
            <a:ext cx="736996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280"/>
                </a:solidFill>
                <a:latin typeface="IBM Plex Sans" pitchFamily="34" charset="0"/>
                <a:ea typeface="IBM Plex Sans" pitchFamily="34" charset="-122"/>
                <a:cs typeface="IBM Plex Sans" pitchFamily="34" charset="-120"/>
              </a:rPr>
              <a:t>Fase 2 opcional: visitar cada ficha (antigüedad, superficie cubierta, descripción completa).</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B4470A"/>
                </a:solidFill>
                <a:latin typeface="IBM Plex Sans" pitchFamily="34" charset="0"/>
                <a:ea typeface="IBM Plex Sans" pitchFamily="34" charset="-122"/>
                <a:cs typeface="IBM Plex Sans" pitchFamily="34" charset="-120"/>
              </a:rPr>
              <a:t>4 · DIFICULTADES PRINCIPALES</a:t>
            </a:r>
            <a:endParaRPr lang="en-US" sz="1300" dirty="0"/>
          </a:p>
        </p:txBody>
      </p:sp>
      <p:sp>
        <p:nvSpPr>
          <p:cNvPr id="3" name="Text 1"/>
          <p:cNvSpPr/>
          <p:nvPr>
            <p:ph type="title"/>
          </p:nvPr>
        </p:nvSpPr>
        <p:spPr>
          <a:xfrm>
            <a:off x="812800" y="134868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Rubik" pitchFamily="34" charset="0"/>
                <a:ea typeface="Rubik" pitchFamily="34" charset="-122"/>
                <a:cs typeface="Rubik" pitchFamily="34" charset="-120"/>
              </a:rPr>
              <a:t>El sitio no quiere ser scrapeado</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169021"/>
          <a:ext cx="10553700" cy="2564606"/>
        </p:xfrm>
        <a:graphic>
          <a:graphicData uri="http://schemas.openxmlformats.org/drawingml/2006/table">
            <a:tbl>
              <a:tblPr/>
              <a:tblGrid>
                <a:gridCol w="3377184"/>
                <a:gridCol w="7176516"/>
              </a:tblGrid>
              <a:tr h="385961">
                <a:tc>
                  <a:txBody>
                    <a:bodyPr/>
                    <a:lstStyle/>
                    <a:p>
                      <a:pPr indent="0" marL="0">
                        <a:lnSpc>
                          <a:spcPts val="1960"/>
                        </a:lnSpc>
                        <a:buNone/>
                      </a:pPr>
                      <a:r>
                        <a:rPr lang="en-US" sz="1400" b="1" dirty="0">
                          <a:solidFill>
                            <a:srgbClr val="F7F6F2"/>
                          </a:solidFill>
                          <a:latin typeface="IBM Plex Sans" pitchFamily="34" charset="0"/>
                          <a:ea typeface="IBM Plex Sans" pitchFamily="34" charset="-122"/>
                          <a:cs typeface="IBM Plex Sans" pitchFamily="34" charset="-120"/>
                        </a:rPr>
                        <a:t>Problema</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5C4C1"/>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c>
                  <a:txBody>
                    <a:bodyPr/>
                    <a:lstStyle/>
                    <a:p>
                      <a:pPr indent="0" marL="0">
                        <a:lnSpc>
                          <a:spcPts val="1960"/>
                        </a:lnSpc>
                        <a:buNone/>
                      </a:pPr>
                      <a:r>
                        <a:rPr lang="en-US" sz="1400" b="1" dirty="0">
                          <a:solidFill>
                            <a:srgbClr val="F7F6F2"/>
                          </a:solidFill>
                          <a:latin typeface="IBM Plex Sans" pitchFamily="34" charset="0"/>
                          <a:ea typeface="IBM Plex Sans" pitchFamily="34" charset="-122"/>
                          <a:cs typeface="IBM Plex Sans" pitchFamily="34" charset="-120"/>
                        </a:rPr>
                        <a:t>Solución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141E34"/>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r>
              <a:tr h="634802">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Cloudflare bloquea bots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Chrome real con perfil persistente, conexión residencial y verificación manual cuando aparece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r>
              <a:tr h="385961">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Tope de páginas por búsqueda</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5C4C1"/>
                      </a:solidFill>
                      <a:prstDash val="solid"/>
                      <a:round/>
                      <a:headEnd type="none" w="med" len="med"/>
                      <a:tailEnd type="none" w="med" len="med"/>
                    </a:lnL>
                    <a:lnR w="12700" cap="flat" cmpd="sng" algn="ctr">
                      <a:solidFill>
                        <a:srgbClr val="BFBDB8"/>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FBDB8"/>
                      </a:solidFill>
                      <a:prstDash val="solid"/>
                      <a:round/>
                      <a:headEnd type="none" w="med" len="med"/>
                      <a:tailEnd type="none" w="med" len="med"/>
                    </a:lnB>
                    <a:solidFill>
                      <a:srgbClr val="EFEDE6"/>
                    </a:solidFill>
                  </a:tcPr>
                </a:tc>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Partición recursiva de la búsqueda por rangos de precio hasta que entra</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FBDB8"/>
                      </a:solidFill>
                      <a:prstDash val="solid"/>
                      <a:round/>
                      <a:headEnd type="none" w="med" len="med"/>
                      <a:tailEnd type="none" w="med" len="med"/>
                    </a:lnL>
                    <a:lnR w="12700" cap="flat" cmpd="sng" algn="ctr">
                      <a:solidFill>
                        <a:srgbClr val="BFBDB8"/>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FBDB8"/>
                      </a:solidFill>
                      <a:prstDash val="solid"/>
                      <a:round/>
                      <a:headEnd type="none" w="med" len="med"/>
                      <a:tailEnd type="none" w="med" len="med"/>
                    </a:lnB>
                    <a:solidFill>
                      <a:srgbClr val="EFEDE6"/>
                    </a:solidFill>
                  </a:tcPr>
                </a:tc>
              </a:tr>
              <a:tr h="385961">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Relleno con otras zonas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FBDB8"/>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Filtro por ubicación: sólo se guarda lo que es de un barrio de CABA</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FBDB8"/>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r>
              <a:tr h="385961">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Errores silenciosos: sin 404</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5C4C1"/>
                      </a:solidFill>
                      <a:prstDash val="solid"/>
                      <a:round/>
                      <a:headEnd type="none" w="med" len="med"/>
                      <a:tailEnd type="none" w="med" len="med"/>
                    </a:lnL>
                    <a:lnR w="12700" cap="flat" cmpd="sng" algn="ctr">
                      <a:solidFill>
                        <a:srgbClr val="BFBDB8"/>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FBDB8"/>
                      </a:solidFill>
                      <a:prstDash val="solid"/>
                      <a:round/>
                      <a:headEnd type="none" w="med" len="med"/>
                      <a:tailEnd type="none" w="med" len="med"/>
                    </a:lnB>
                    <a:solidFill>
                      <a:srgbClr val="EFEDE6"/>
                    </a:solidFill>
                  </a:tcPr>
                </a:tc>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Detectar redirecciones y páginas repetidas para saber dónde termina cada búsqueda</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FBDB8"/>
                      </a:solidFill>
                      <a:prstDash val="solid"/>
                      <a:round/>
                      <a:headEnd type="none" w="med" len="med"/>
                      <a:tailEnd type="none" w="med" len="med"/>
                    </a:lnL>
                    <a:lnR w="12700" cap="flat" cmpd="sng" algn="ctr">
                      <a:solidFill>
                        <a:srgbClr val="BFBDB8"/>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FBDB8"/>
                      </a:solidFill>
                      <a:prstDash val="solid"/>
                      <a:round/>
                      <a:headEnd type="none" w="med" len="med"/>
                      <a:tailEnd type="none" w="med" len="med"/>
                    </a:lnB>
                    <a:solidFill>
                      <a:srgbClr val="EFEDE6"/>
                    </a:solidFill>
                  </a:tcPr>
                </a:tc>
              </a:tr>
              <a:tr h="385961">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Cortes en corridas largas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FBDB8"/>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Escritura incremental y frontier.json: se retoma en la misma búsqueda y página</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FBDB8"/>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r>
            </a:tbl>
          </a:graphicData>
        </a:graphic>
      </p:graphicFrame>
      <p:sp>
        <p:nvSpPr>
          <p:cNvPr id="5" name="Text 2"/>
          <p:cNvSpPr/>
          <p:nvPr/>
        </p:nvSpPr>
        <p:spPr>
          <a:xfrm>
            <a:off x="812800" y="6238280"/>
            <a:ext cx="540960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280"/>
                </a:solidFill>
                <a:latin typeface="IBM Plex Sans" pitchFamily="34" charset="0"/>
                <a:ea typeface="IBM Plex Sans" pitchFamily="34" charset="-122"/>
                <a:cs typeface="IBM Plex Sans" pitchFamily="34" charset="-120"/>
              </a:rPr>
              <a:t>Los parsers se prueban contra capturas reales del sitio (npm test).</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F4A261"/>
                </a:solidFill>
                <a:latin typeface="IBM Plex Sans" pitchFamily="34" charset="0"/>
                <a:ea typeface="IBM Plex Sans" pitchFamily="34" charset="-122"/>
                <a:cs typeface="IBM Plex Sans" pitchFamily="34" charset="-120"/>
              </a:rPr>
              <a:t>5 · EDA Y CALIDAD DEL SCRAPEO</a:t>
            </a:r>
            <a:endParaRPr lang="en-US" sz="1300" dirty="0"/>
          </a:p>
        </p:txBody>
      </p:sp>
      <p:sp>
        <p:nvSpPr>
          <p:cNvPr id="3" name="Text 1"/>
          <p:cNvSpPr/>
          <p:nvPr>
            <p:ph type="title"/>
          </p:nvPr>
        </p:nvSpPr>
        <p:spPr>
          <a:xfrm>
            <a:off x="812800" y="134868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7F6F2"/>
                </a:solidFill>
                <a:latin typeface="Rubik" pitchFamily="34" charset="0"/>
                <a:ea typeface="Rubik" pitchFamily="34" charset="-122"/>
                <a:cs typeface="Rubik" pitchFamily="34" charset="-120"/>
              </a:rPr>
              <a:t>El scraper extrae bien, y se puede medir</a:t>
            </a:r>
            <a:endParaRPr lang="en-US" sz="3600" dirty="0"/>
          </a:p>
        </p:txBody>
      </p:sp>
      <p:sp>
        <p:nvSpPr>
          <p:cNvPr id="4" name="Shape 2"/>
          <p:cNvSpPr/>
          <p:nvPr/>
        </p:nvSpPr>
        <p:spPr>
          <a:xfrm>
            <a:off x="812800" y="2156321"/>
            <a:ext cx="3420467" cy="1697930"/>
          </a:xfrm>
          <a:prstGeom prst="roundRect">
            <a:avLst>
              <a:gd name="adj" fmla="val 5984"/>
            </a:avLst>
          </a:prstGeom>
          <a:solidFill>
            <a:srgbClr val="1F2E52"/>
          </a:solidFill>
          <a:ln/>
        </p:spPr>
      </p:sp>
      <p:sp>
        <p:nvSpPr>
          <p:cNvPr id="5" name="Text 3"/>
          <p:cNvSpPr/>
          <p:nvPr/>
        </p:nvSpPr>
        <p:spPr>
          <a:xfrm>
            <a:off x="1041400" y="2384921"/>
            <a:ext cx="3052165"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F4A261"/>
                </a:solidFill>
                <a:latin typeface="Rubik" pitchFamily="34" charset="0"/>
                <a:ea typeface="Rubik" pitchFamily="34" charset="-122"/>
                <a:cs typeface="Rubik" pitchFamily="34" charset="-120"/>
              </a:rPr>
              <a:t>0</a:t>
            </a:r>
            <a:endParaRPr lang="en-US" sz="3600" dirty="0"/>
          </a:p>
        </p:txBody>
      </p:sp>
      <p:sp>
        <p:nvSpPr>
          <p:cNvPr id="6" name="Text 4"/>
          <p:cNvSpPr/>
          <p:nvPr/>
        </p:nvSpPr>
        <p:spPr>
          <a:xfrm>
            <a:off x="1041400" y="2905621"/>
            <a:ext cx="3052165" cy="74543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C9D3E6"/>
                </a:solidFill>
                <a:latin typeface="IBM Plex Sans" pitchFamily="34" charset="0"/>
                <a:ea typeface="IBM Plex Sans" pitchFamily="34" charset="-122"/>
                <a:cs typeface="IBM Plex Sans" pitchFamily="34" charset="-120"/>
              </a:rPr>
              <a:t>fallas en las 15 reglas de unicidad y formato (ids, URLs, fechas, monedas)</a:t>
            </a:r>
            <a:endParaRPr lang="en-US" sz="1400" dirty="0"/>
          </a:p>
        </p:txBody>
      </p:sp>
      <p:sp>
        <p:nvSpPr>
          <p:cNvPr id="7" name="Shape 5"/>
          <p:cNvSpPr/>
          <p:nvPr/>
        </p:nvSpPr>
        <p:spPr>
          <a:xfrm>
            <a:off x="4385667" y="2156321"/>
            <a:ext cx="3420566" cy="1697930"/>
          </a:xfrm>
          <a:prstGeom prst="roundRect">
            <a:avLst>
              <a:gd name="adj" fmla="val 5984"/>
            </a:avLst>
          </a:prstGeom>
          <a:solidFill>
            <a:srgbClr val="1F2E52"/>
          </a:solidFill>
          <a:ln/>
        </p:spPr>
      </p:sp>
      <p:sp>
        <p:nvSpPr>
          <p:cNvPr id="8" name="Text 6"/>
          <p:cNvSpPr/>
          <p:nvPr/>
        </p:nvSpPr>
        <p:spPr>
          <a:xfrm>
            <a:off x="4614267" y="2384921"/>
            <a:ext cx="3052267"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F4A261"/>
                </a:solidFill>
                <a:latin typeface="Rubik" pitchFamily="34" charset="0"/>
                <a:ea typeface="Rubik" pitchFamily="34" charset="-122"/>
                <a:cs typeface="Rubik" pitchFamily="34" charset="-120"/>
              </a:rPr>
              <a:t>99,8 %</a:t>
            </a:r>
            <a:endParaRPr lang="en-US" sz="3600" dirty="0"/>
          </a:p>
        </p:txBody>
      </p:sp>
      <p:sp>
        <p:nvSpPr>
          <p:cNvPr id="9" name="Text 7"/>
          <p:cNvSpPr/>
          <p:nvPr/>
        </p:nvSpPr>
        <p:spPr>
          <a:xfrm>
            <a:off x="4614267" y="2905621"/>
            <a:ext cx="3052267"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C9D3E6"/>
                </a:solidFill>
                <a:latin typeface="IBM Plex Sans" pitchFamily="34" charset="0"/>
                <a:ea typeface="IBM Plex Sans" pitchFamily="34" charset="-122"/>
                <a:cs typeface="IBM Plex Sans" pitchFamily="34" charset="-120"/>
              </a:rPr>
              <a:t>de concordancia con la URL del aviso (operación; ambientes: 99,4 %)</a:t>
            </a:r>
            <a:endParaRPr lang="en-US" sz="1400" dirty="0"/>
          </a:p>
        </p:txBody>
      </p:sp>
      <p:sp>
        <p:nvSpPr>
          <p:cNvPr id="10" name="Shape 8"/>
          <p:cNvSpPr/>
          <p:nvPr/>
        </p:nvSpPr>
        <p:spPr>
          <a:xfrm>
            <a:off x="7958634" y="2156321"/>
            <a:ext cx="3420566" cy="1697930"/>
          </a:xfrm>
          <a:prstGeom prst="roundRect">
            <a:avLst>
              <a:gd name="adj" fmla="val 5984"/>
            </a:avLst>
          </a:prstGeom>
          <a:solidFill>
            <a:srgbClr val="1F2E52"/>
          </a:solidFill>
          <a:ln/>
        </p:spPr>
      </p:sp>
      <p:sp>
        <p:nvSpPr>
          <p:cNvPr id="11" name="Text 9"/>
          <p:cNvSpPr/>
          <p:nvPr/>
        </p:nvSpPr>
        <p:spPr>
          <a:xfrm>
            <a:off x="8187234" y="2384921"/>
            <a:ext cx="3052267"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F4A261"/>
                </a:solidFill>
                <a:latin typeface="Rubik" pitchFamily="34" charset="0"/>
                <a:ea typeface="Rubik" pitchFamily="34" charset="-122"/>
                <a:cs typeface="Rubik" pitchFamily="34" charset="-120"/>
              </a:rPr>
              <a:t>0</a:t>
            </a:r>
            <a:endParaRPr lang="en-US" sz="3600" dirty="0"/>
          </a:p>
        </p:txBody>
      </p:sp>
      <p:sp>
        <p:nvSpPr>
          <p:cNvPr id="12" name="Text 10"/>
          <p:cNvSpPr/>
          <p:nvPr/>
        </p:nvSpPr>
        <p:spPr>
          <a:xfrm>
            <a:off x="8187234" y="2905621"/>
            <a:ext cx="3052267"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C9D3E6"/>
                </a:solidFill>
                <a:latin typeface="IBM Plex Sans" pitchFamily="34" charset="0"/>
                <a:ea typeface="IBM Plex Sans" pitchFamily="34" charset="-122"/>
                <a:cs typeface="IBM Plex Sans" pitchFamily="34" charset="-120"/>
              </a:rPr>
              <a:t>franjas horarias con deriva del parser en 8 horas de scraping</a:t>
            </a:r>
            <a:endParaRPr lang="en-US" sz="1400" dirty="0"/>
          </a:p>
        </p:txBody>
      </p:sp>
      <p:sp>
        <p:nvSpPr>
          <p:cNvPr id="13" name="Shape 11"/>
          <p:cNvSpPr/>
          <p:nvPr/>
        </p:nvSpPr>
        <p:spPr>
          <a:xfrm>
            <a:off x="812800" y="4006652"/>
            <a:ext cx="3420467" cy="1457920"/>
          </a:xfrm>
          <a:prstGeom prst="roundRect">
            <a:avLst>
              <a:gd name="adj" fmla="val 6969"/>
            </a:avLst>
          </a:prstGeom>
          <a:solidFill>
            <a:srgbClr val="1F2E52"/>
          </a:solidFill>
          <a:ln/>
        </p:spPr>
      </p:sp>
      <p:sp>
        <p:nvSpPr>
          <p:cNvPr id="14" name="Text 12"/>
          <p:cNvSpPr/>
          <p:nvPr/>
        </p:nvSpPr>
        <p:spPr>
          <a:xfrm>
            <a:off x="1041400" y="4235252"/>
            <a:ext cx="3052165"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F7F6F2"/>
                </a:solidFill>
                <a:latin typeface="Rubik" pitchFamily="34" charset="0"/>
                <a:ea typeface="Rubik" pitchFamily="34" charset="-122"/>
                <a:cs typeface="Rubik" pitchFamily="34" charset="-120"/>
              </a:rPr>
              <a:t>10 / 10</a:t>
            </a:r>
            <a:endParaRPr lang="en-US" sz="3600" dirty="0"/>
          </a:p>
        </p:txBody>
      </p:sp>
      <p:sp>
        <p:nvSpPr>
          <p:cNvPr id="15" name="Text 13"/>
          <p:cNvSpPr/>
          <p:nvPr/>
        </p:nvSpPr>
        <p:spPr>
          <a:xfrm>
            <a:off x="1041400" y="4755952"/>
            <a:ext cx="3052165"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C9D3E6"/>
                </a:solidFill>
                <a:latin typeface="IBM Plex Sans" pitchFamily="34" charset="0"/>
                <a:ea typeface="IBM Plex Sans" pitchFamily="34" charset="-122"/>
                <a:cs typeface="IBM Plex Sans" pitchFamily="34" charset="-120"/>
              </a:rPr>
              <a:t>campos obligatorios completos; lo que falta lo explica el sitio</a:t>
            </a:r>
            <a:endParaRPr lang="en-US" sz="1400" dirty="0"/>
          </a:p>
        </p:txBody>
      </p:sp>
      <p:sp>
        <p:nvSpPr>
          <p:cNvPr id="16" name="Shape 14"/>
          <p:cNvSpPr/>
          <p:nvPr/>
        </p:nvSpPr>
        <p:spPr>
          <a:xfrm>
            <a:off x="4385667" y="4006652"/>
            <a:ext cx="3420566" cy="1457920"/>
          </a:xfrm>
          <a:prstGeom prst="roundRect">
            <a:avLst>
              <a:gd name="adj" fmla="val 6969"/>
            </a:avLst>
          </a:prstGeom>
          <a:solidFill>
            <a:srgbClr val="1F2E52"/>
          </a:solidFill>
          <a:ln/>
        </p:spPr>
      </p:sp>
      <p:sp>
        <p:nvSpPr>
          <p:cNvPr id="17" name="Text 15"/>
          <p:cNvSpPr/>
          <p:nvPr/>
        </p:nvSpPr>
        <p:spPr>
          <a:xfrm>
            <a:off x="4614267" y="4235252"/>
            <a:ext cx="3052267"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F7F6F2"/>
                </a:solidFill>
                <a:latin typeface="Rubik" pitchFamily="34" charset="0"/>
                <a:ea typeface="Rubik" pitchFamily="34" charset="-122"/>
                <a:cs typeface="Rubik" pitchFamily="34" charset="-120"/>
              </a:rPr>
              <a:t>4,7 %</a:t>
            </a:r>
            <a:endParaRPr lang="en-US" sz="3600" dirty="0"/>
          </a:p>
        </p:txBody>
      </p:sp>
      <p:sp>
        <p:nvSpPr>
          <p:cNvPr id="18" name="Text 16"/>
          <p:cNvSpPr/>
          <p:nvPr/>
        </p:nvSpPr>
        <p:spPr>
          <a:xfrm>
            <a:off x="4614267" y="4755952"/>
            <a:ext cx="3052267"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C9D3E6"/>
                </a:solidFill>
                <a:latin typeface="IBM Plex Sans" pitchFamily="34" charset="0"/>
                <a:ea typeface="IBM Plex Sans" pitchFamily="34" charset="-122"/>
                <a:cs typeface="IBM Plex Sans" pitchFamily="34" charset="-120"/>
              </a:rPr>
              <a:t>de avisos son la misma unidad publicada otra vez: se agrupan</a:t>
            </a:r>
            <a:endParaRPr lang="en-US" sz="1400" dirty="0"/>
          </a:p>
        </p:txBody>
      </p:sp>
      <p:sp>
        <p:nvSpPr>
          <p:cNvPr id="19" name="Shape 17"/>
          <p:cNvSpPr/>
          <p:nvPr/>
        </p:nvSpPr>
        <p:spPr>
          <a:xfrm>
            <a:off x="7958634" y="4006652"/>
            <a:ext cx="3420566" cy="1457920"/>
          </a:xfrm>
          <a:prstGeom prst="roundRect">
            <a:avLst>
              <a:gd name="adj" fmla="val 6969"/>
            </a:avLst>
          </a:prstGeom>
          <a:solidFill>
            <a:srgbClr val="1F2E52"/>
          </a:solidFill>
          <a:ln/>
        </p:spPr>
      </p:sp>
      <p:sp>
        <p:nvSpPr>
          <p:cNvPr id="20" name="Text 18"/>
          <p:cNvSpPr/>
          <p:nvPr/>
        </p:nvSpPr>
        <p:spPr>
          <a:xfrm>
            <a:off x="8187234" y="4235252"/>
            <a:ext cx="3052267"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F7F6F2"/>
                </a:solidFill>
                <a:latin typeface="Rubik" pitchFamily="34" charset="0"/>
                <a:ea typeface="Rubik" pitchFamily="34" charset="-122"/>
                <a:cs typeface="Rubik" pitchFamily="34" charset="-120"/>
              </a:rPr>
              <a:t>70 %</a:t>
            </a:r>
            <a:endParaRPr lang="en-US" sz="3600" dirty="0"/>
          </a:p>
        </p:txBody>
      </p:sp>
      <p:sp>
        <p:nvSpPr>
          <p:cNvPr id="21" name="Text 19"/>
          <p:cNvSpPr/>
          <p:nvPr/>
        </p:nvSpPr>
        <p:spPr>
          <a:xfrm>
            <a:off x="8187234" y="4755952"/>
            <a:ext cx="3052267"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C9D3E6"/>
                </a:solidFill>
                <a:latin typeface="IBM Plex Sans" pitchFamily="34" charset="0"/>
                <a:ea typeface="IBM Plex Sans" pitchFamily="34" charset="-122"/>
                <a:cs typeface="IBM Plex Sans" pitchFamily="34" charset="-120"/>
              </a:rPr>
              <a:t>de cobertura de lo anunciado (cota inferior: hay solapamiento)</a:t>
            </a:r>
            <a:endParaRPr lang="en-US" sz="1400" dirty="0"/>
          </a:p>
        </p:txBody>
      </p:sp>
      <p:sp>
        <p:nvSpPr>
          <p:cNvPr id="22" name="Text 2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D3E6"/>
                </a:solidFill>
                <a:latin typeface="IBM Plex Sans" pitchFamily="34" charset="0"/>
                <a:ea typeface="IBM Plex Sans" pitchFamily="34" charset="-122"/>
                <a:cs typeface="IBM Plex Sans" pitchFamily="34" charset="-120"/>
              </a:rPr>
              <a:t>Errores de origen detectados (menos del 2,2 %): ventas cargadas en pesos con montos en dólares, valores de relleno como 111.111.111.111.</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B4470A"/>
                </a:solidFill>
                <a:latin typeface="IBM Plex Sans" pitchFamily="34" charset="0"/>
                <a:ea typeface="IBM Plex Sans" pitchFamily="34" charset="-122"/>
                <a:cs typeface="IBM Plex Sans" pitchFamily="34" charset="-120"/>
              </a:rPr>
              <a:t>6 · MODELO DE ML</a:t>
            </a:r>
            <a:endParaRPr lang="en-US" sz="1300" dirty="0"/>
          </a:p>
        </p:txBody>
      </p:sp>
      <p:sp>
        <p:nvSpPr>
          <p:cNvPr id="3" name="Text 1"/>
          <p:cNvSpPr/>
          <p:nvPr>
            <p:ph type="title"/>
          </p:nvPr>
        </p:nvSpPr>
        <p:spPr>
          <a:xfrm>
            <a:off x="812800" y="139948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Rubik" pitchFamily="34" charset="0"/>
                <a:ea typeface="Rubik" pitchFamily="34" charset="-122"/>
                <a:cs typeface="Rubik" pitchFamily="34" charset="-120"/>
              </a:rPr>
              <a:t>LightGBM sobre USD/m², evaluado sin trampa</a:t>
            </a:r>
            <a:endParaRPr lang="en-US" sz="3600" dirty="0"/>
          </a:p>
        </p:txBody>
      </p:sp>
      <p:sp>
        <p:nvSpPr>
          <p:cNvPr id="4" name="Shape 2"/>
          <p:cNvSpPr/>
          <p:nvPr/>
        </p:nvSpPr>
        <p:spPr>
          <a:xfrm>
            <a:off x="815975" y="2261096"/>
            <a:ext cx="5187950" cy="1296491"/>
          </a:xfrm>
          <a:prstGeom prst="roundRect">
            <a:avLst>
              <a:gd name="adj" fmla="val 7592"/>
            </a:avLst>
          </a:prstGeom>
          <a:solidFill>
            <a:srgbClr val="FFFFFF"/>
          </a:solidFill>
          <a:ln w="6350">
            <a:solidFill>
              <a:srgbClr val="DDD9CF"/>
            </a:solidFill>
            <a:prstDash val="solid"/>
          </a:ln>
        </p:spPr>
      </p:sp>
      <p:sp>
        <p:nvSpPr>
          <p:cNvPr id="5" name="Text 3"/>
          <p:cNvSpPr/>
          <p:nvPr/>
        </p:nvSpPr>
        <p:spPr>
          <a:xfrm>
            <a:off x="1047750" y="2492871"/>
            <a:ext cx="4866132"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13D"/>
                </a:solidFill>
                <a:latin typeface="Rubik" pitchFamily="34" charset="0"/>
                <a:ea typeface="Rubik" pitchFamily="34" charset="-122"/>
                <a:cs typeface="Rubik" pitchFamily="34" charset="-120"/>
              </a:rPr>
              <a:t>Datos</a:t>
            </a:r>
            <a:endParaRPr lang="en-US" sz="1700" dirty="0"/>
          </a:p>
        </p:txBody>
      </p:sp>
      <p:sp>
        <p:nvSpPr>
          <p:cNvPr id="6" name="Text 4"/>
          <p:cNvSpPr/>
          <p:nvPr/>
        </p:nvSpPr>
        <p:spPr>
          <a:xfrm>
            <a:off x="1047750" y="2828131"/>
            <a:ext cx="4866132"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Departamentos en venta en USD; reglas de consistencia, sin pozo y sin duplicados confirmados.</a:t>
            </a:r>
            <a:endParaRPr lang="en-US" sz="1400" dirty="0"/>
          </a:p>
        </p:txBody>
      </p:sp>
      <p:sp>
        <p:nvSpPr>
          <p:cNvPr id="7" name="Shape 5"/>
          <p:cNvSpPr/>
          <p:nvPr/>
        </p:nvSpPr>
        <p:spPr>
          <a:xfrm>
            <a:off x="6188075" y="2261096"/>
            <a:ext cx="5187950" cy="1296491"/>
          </a:xfrm>
          <a:prstGeom prst="roundRect">
            <a:avLst>
              <a:gd name="adj" fmla="val 7592"/>
            </a:avLst>
          </a:prstGeom>
          <a:solidFill>
            <a:srgbClr val="FFFFFF"/>
          </a:solidFill>
          <a:ln w="6350">
            <a:solidFill>
              <a:srgbClr val="DDD9CF"/>
            </a:solidFill>
            <a:prstDash val="solid"/>
          </a:ln>
        </p:spPr>
      </p:sp>
      <p:sp>
        <p:nvSpPr>
          <p:cNvPr id="8" name="Text 6"/>
          <p:cNvSpPr/>
          <p:nvPr/>
        </p:nvSpPr>
        <p:spPr>
          <a:xfrm>
            <a:off x="6419850" y="2492871"/>
            <a:ext cx="4866132"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13D"/>
                </a:solidFill>
                <a:latin typeface="Rubik" pitchFamily="34" charset="0"/>
                <a:ea typeface="Rubik" pitchFamily="34" charset="-122"/>
                <a:cs typeface="Rubik" pitchFamily="34" charset="-120"/>
              </a:rPr>
              <a:t>Variables</a:t>
            </a:r>
            <a:endParaRPr lang="en-US" sz="1700" dirty="0"/>
          </a:p>
        </p:txBody>
      </p:sp>
      <p:sp>
        <p:nvSpPr>
          <p:cNvPr id="9" name="Text 7"/>
          <p:cNvSpPr/>
          <p:nvPr/>
        </p:nvSpPr>
        <p:spPr>
          <a:xfrm>
            <a:off x="6419850" y="2828131"/>
            <a:ext cx="4866132"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m², ambientes, barrio y calle (target encoding fuera de fold), atributos del texto sin montos.</a:t>
            </a:r>
            <a:endParaRPr lang="en-US" sz="1400" dirty="0"/>
          </a:p>
        </p:txBody>
      </p:sp>
      <p:sp>
        <p:nvSpPr>
          <p:cNvPr id="10" name="Shape 8"/>
          <p:cNvSpPr/>
          <p:nvPr/>
        </p:nvSpPr>
        <p:spPr>
          <a:xfrm>
            <a:off x="815975" y="3741738"/>
            <a:ext cx="5187950" cy="1296491"/>
          </a:xfrm>
          <a:prstGeom prst="roundRect">
            <a:avLst>
              <a:gd name="adj" fmla="val 7592"/>
            </a:avLst>
          </a:prstGeom>
          <a:solidFill>
            <a:srgbClr val="FFFFFF"/>
          </a:solidFill>
          <a:ln w="6350">
            <a:solidFill>
              <a:srgbClr val="DDD9CF"/>
            </a:solidFill>
            <a:prstDash val="solid"/>
          </a:ln>
        </p:spPr>
      </p:sp>
      <p:sp>
        <p:nvSpPr>
          <p:cNvPr id="11" name="Text 9"/>
          <p:cNvSpPr/>
          <p:nvPr/>
        </p:nvSpPr>
        <p:spPr>
          <a:xfrm>
            <a:off x="1047750" y="3973512"/>
            <a:ext cx="4866132"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13D"/>
                </a:solidFill>
                <a:latin typeface="Rubik" pitchFamily="34" charset="0"/>
                <a:ea typeface="Rubik" pitchFamily="34" charset="-122"/>
                <a:cs typeface="Rubik" pitchFamily="34" charset="-120"/>
              </a:rPr>
              <a:t>Validación</a:t>
            </a:r>
            <a:endParaRPr lang="en-US" sz="1700" dirty="0"/>
          </a:p>
        </p:txBody>
      </p:sp>
      <p:sp>
        <p:nvSpPr>
          <p:cNvPr id="12" name="Text 10"/>
          <p:cNvSpPr/>
          <p:nvPr/>
        </p:nvSpPr>
        <p:spPr>
          <a:xfrm>
            <a:off x="1047750" y="4308773"/>
            <a:ext cx="4866132"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Test fijo agrupado por unidad: la misma propiedad nunca queda en train y en test.</a:t>
            </a:r>
            <a:endParaRPr lang="en-US" sz="1400" dirty="0"/>
          </a:p>
        </p:txBody>
      </p:sp>
      <p:sp>
        <p:nvSpPr>
          <p:cNvPr id="13" name="Shape 11"/>
          <p:cNvSpPr/>
          <p:nvPr/>
        </p:nvSpPr>
        <p:spPr>
          <a:xfrm>
            <a:off x="6188075" y="3741738"/>
            <a:ext cx="5187950" cy="1296491"/>
          </a:xfrm>
          <a:prstGeom prst="roundRect">
            <a:avLst>
              <a:gd name="adj" fmla="val 7592"/>
            </a:avLst>
          </a:prstGeom>
          <a:solidFill>
            <a:srgbClr val="FFFFFF"/>
          </a:solidFill>
          <a:ln w="6350">
            <a:solidFill>
              <a:srgbClr val="DDD9CF"/>
            </a:solidFill>
            <a:prstDash val="solid"/>
          </a:ln>
        </p:spPr>
      </p:sp>
      <p:sp>
        <p:nvSpPr>
          <p:cNvPr id="14" name="Text 12"/>
          <p:cNvSpPr/>
          <p:nvPr/>
        </p:nvSpPr>
        <p:spPr>
          <a:xfrm>
            <a:off x="6419850" y="3973512"/>
            <a:ext cx="4866132"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4213D"/>
                </a:solidFill>
                <a:latin typeface="Rubik" pitchFamily="34" charset="0"/>
                <a:ea typeface="Rubik" pitchFamily="34" charset="-122"/>
                <a:cs typeface="Rubik" pitchFamily="34" charset="-120"/>
              </a:rPr>
              <a:t>Ajuste</a:t>
            </a:r>
            <a:endParaRPr lang="en-US" sz="1700" dirty="0"/>
          </a:p>
        </p:txBody>
      </p:sp>
      <p:sp>
        <p:nvSpPr>
          <p:cNvPr id="15" name="Text 13"/>
          <p:cNvSpPr/>
          <p:nvPr/>
        </p:nvSpPr>
        <p:spPr>
          <a:xfrm>
            <a:off x="6419850" y="4308773"/>
            <a:ext cx="4866132"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CV de 5 folds agrupados, pérdida Huber, hiperparámetros con Optuna, intervalos del 80 %.</a:t>
            </a:r>
            <a:endParaRPr lang="en-US" sz="1400" dirty="0"/>
          </a:p>
        </p:txBody>
      </p:sp>
      <p:sp>
        <p:nvSpPr>
          <p:cNvPr id="16" name="Text 14"/>
          <p:cNvSpPr/>
          <p:nvPr/>
        </p:nvSpPr>
        <p:spPr>
          <a:xfrm>
            <a:off x="812800" y="6238280"/>
            <a:ext cx="642758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280"/>
                </a:solidFill>
                <a:latin typeface="IBM Plex Sans" pitchFamily="34" charset="0"/>
                <a:ea typeface="IBM Plex Sans" pitchFamily="34" charset="-122"/>
                <a:cs typeface="IBM Plex Sans" pitchFamily="34" charset="-120"/>
              </a:rPr>
              <a:t>ml/precio.py · notebooks/01_price_prediction.ipynb · docs/modelo_precio.md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2800" y="812800"/>
            <a:ext cx="10883392" cy="256480"/>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B4470A"/>
                </a:solidFill>
                <a:latin typeface="IBM Plex Sans" pitchFamily="34" charset="0"/>
                <a:ea typeface="IBM Plex Sans" pitchFamily="34" charset="-122"/>
                <a:cs typeface="IBM Plex Sans" pitchFamily="34" charset="-120"/>
              </a:rPr>
              <a:t>7 · RESULTADOS</a:t>
            </a:r>
            <a:endParaRPr lang="en-US" sz="1300" dirty="0"/>
          </a:p>
        </p:txBody>
      </p:sp>
      <p:sp>
        <p:nvSpPr>
          <p:cNvPr id="3" name="Text 1"/>
          <p:cNvSpPr/>
          <p:nvPr>
            <p:ph type="title"/>
          </p:nvPr>
        </p:nvSpPr>
        <p:spPr>
          <a:xfrm>
            <a:off x="812800" y="1348680"/>
            <a:ext cx="10883392" cy="103108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4213D"/>
                </a:solidFill>
                <a:latin typeface="Rubik" pitchFamily="34" charset="0"/>
                <a:ea typeface="Rubik" pitchFamily="34" charset="-122"/>
                <a:cs typeface="Rubik" pitchFamily="34" charset="-120"/>
              </a:rPr>
              <a:t>Error mediano de 9,9 % sobre departamentos nunca vistos</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671862"/>
          <a:ext cx="6591300" cy="2178645"/>
        </p:xfrm>
        <a:graphic>
          <a:graphicData uri="http://schemas.openxmlformats.org/drawingml/2006/table">
            <a:tbl>
              <a:tblPr/>
              <a:tblGrid>
                <a:gridCol w="3427476"/>
                <a:gridCol w="1581912"/>
                <a:gridCol w="1581912"/>
              </a:tblGrid>
              <a:tr h="634802">
                <a:tc>
                  <a:txBody>
                    <a:bodyPr/>
                    <a:lstStyle/>
                    <a:p>
                      <a:pPr indent="0" marL="0">
                        <a:lnSpc>
                          <a:spcPts val="1960"/>
                        </a:lnSpc>
                        <a:buNone/>
                      </a:pPr>
                      <a:r>
                        <a:rPr lang="en-US" sz="1400" b="1" dirty="0">
                          <a:solidFill>
                            <a:srgbClr val="F7F6F2"/>
                          </a:solidFill>
                          <a:latin typeface="IBM Plex Sans" pitchFamily="34" charset="0"/>
                          <a:ea typeface="IBM Plex Sans" pitchFamily="34" charset="-122"/>
                          <a:cs typeface="IBM Plex Sans" pitchFamily="34" charset="-120"/>
                        </a:rPr>
                        <a:t>Modelo (test agrupado)</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5C4C1"/>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c>
                  <a:txBody>
                    <a:bodyPr/>
                    <a:lstStyle/>
                    <a:p>
                      <a:pPr algn="r" indent="0" marL="0">
                        <a:lnSpc>
                          <a:spcPts val="1960"/>
                        </a:lnSpc>
                        <a:buNone/>
                      </a:pPr>
                      <a:r>
                        <a:rPr lang="en-US" sz="1400" b="1" dirty="0">
                          <a:solidFill>
                            <a:srgbClr val="F7F6F2"/>
                          </a:solidFill>
                          <a:latin typeface="IBM Plex Sans" pitchFamily="34" charset="0"/>
                          <a:ea typeface="IBM Plex Sans" pitchFamily="34" charset="-122"/>
                          <a:cs typeface="IBM Plex Sans" pitchFamily="34" charset="-120"/>
                        </a:rPr>
                        <a:t>Error mediano</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141E34"/>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c>
                  <a:txBody>
                    <a:bodyPr/>
                    <a:lstStyle/>
                    <a:p>
                      <a:pPr algn="r" indent="0" marL="0">
                        <a:lnSpc>
                          <a:spcPts val="1960"/>
                        </a:lnSpc>
                        <a:buNone/>
                      </a:pPr>
                      <a:r>
                        <a:rPr lang="en-US" sz="1400" b="1" dirty="0">
                          <a:solidFill>
                            <a:srgbClr val="F7F6F2"/>
                          </a:solidFill>
                          <a:latin typeface="IBM Plex Sans" pitchFamily="34" charset="0"/>
                          <a:ea typeface="IBM Plex Sans" pitchFamily="34" charset="-122"/>
                          <a:cs typeface="IBM Plex Sans" pitchFamily="34" charset="-120"/>
                        </a:rPr>
                        <a:t>Dentro de ±10 %</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141E34"/>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r>
              <a:tr h="385961">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Mediana USD/m² del barrio × m²</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algn="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18,5 %</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algn="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28,9 %</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r>
              <a:tr h="385961">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Ridge (regresión lineal)</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5C4C1"/>
                      </a:solidFill>
                      <a:prstDash val="solid"/>
                      <a:round/>
                      <a:headEnd type="none" w="med" len="med"/>
                      <a:tailEnd type="none" w="med" len="med"/>
                    </a:lnL>
                    <a:lnR w="12700" cap="flat" cmpd="sng" algn="ctr">
                      <a:solidFill>
                        <a:srgbClr val="BFBDB8"/>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FBDB8"/>
                      </a:solidFill>
                      <a:prstDash val="solid"/>
                      <a:round/>
                      <a:headEnd type="none" w="med" len="med"/>
                      <a:tailEnd type="none" w="med" len="med"/>
                    </a:lnB>
                    <a:solidFill>
                      <a:srgbClr val="EFEDE6"/>
                    </a:solidFill>
                  </a:tcPr>
                </a:tc>
                <a:tc>
                  <a:txBody>
                    <a:bodyPr/>
                    <a:lstStyle/>
                    <a:p>
                      <a:pPr algn="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14,4 %</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FBDB8"/>
                      </a:solidFill>
                      <a:prstDash val="solid"/>
                      <a:round/>
                      <a:headEnd type="none" w="med" len="med"/>
                      <a:tailEnd type="none" w="med" len="med"/>
                    </a:lnL>
                    <a:lnR w="12700" cap="flat" cmpd="sng" algn="ctr">
                      <a:solidFill>
                        <a:srgbClr val="BFBDB8"/>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FBDB8"/>
                      </a:solidFill>
                      <a:prstDash val="solid"/>
                      <a:round/>
                      <a:headEnd type="none" w="med" len="med"/>
                      <a:tailEnd type="none" w="med" len="med"/>
                    </a:lnB>
                    <a:solidFill>
                      <a:srgbClr val="EFEDE6"/>
                    </a:solidFill>
                  </a:tcPr>
                </a:tc>
                <a:tc>
                  <a:txBody>
                    <a:bodyPr/>
                    <a:lstStyle/>
                    <a:p>
                      <a:pPr algn="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36,8 %</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FBDB8"/>
                      </a:solidFill>
                      <a:prstDash val="solid"/>
                      <a:round/>
                      <a:headEnd type="none" w="med" len="med"/>
                      <a:tailEnd type="none" w="med" len="med"/>
                    </a:lnL>
                    <a:lnR w="12700" cap="flat" cmpd="sng" algn="ctr">
                      <a:solidFill>
                        <a:srgbClr val="BFBDB8"/>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BFBDB8"/>
                      </a:solidFill>
                      <a:prstDash val="solid"/>
                      <a:round/>
                      <a:headEnd type="none" w="med" len="med"/>
                      <a:tailEnd type="none" w="med" len="med"/>
                    </a:lnB>
                    <a:solidFill>
                      <a:srgbClr val="EFEDE6"/>
                    </a:solidFill>
                  </a:tcPr>
                </a:tc>
              </a:tr>
              <a:tr h="385961">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LightGBM inicial</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FBDB8"/>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algn="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13,3 %</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FBDB8"/>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c>
                  <a:txBody>
                    <a:bodyPr/>
                    <a:lstStyle/>
                    <a:p>
                      <a:pPr algn="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39,1 %</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5C4C1"/>
                      </a:solidFill>
                      <a:prstDash val="solid"/>
                      <a:round/>
                      <a:headEnd type="none" w="med" len="med"/>
                      <a:tailEnd type="none" w="med" len="med"/>
                    </a:lnL>
                    <a:lnR w="12700" cap="flat" cmpd="sng" algn="ctr">
                      <a:solidFill>
                        <a:srgbClr val="C5C4C1"/>
                      </a:solidFill>
                      <a:prstDash val="solid"/>
                      <a:round/>
                      <a:headEnd type="none" w="med" len="med"/>
                      <a:tailEnd type="none" w="med" len="med"/>
                    </a:lnR>
                    <a:lnT w="12700" cap="flat" cmpd="sng" algn="ctr">
                      <a:solidFill>
                        <a:srgbClr val="BFBDB8"/>
                      </a:solidFill>
                      <a:prstDash val="solid"/>
                      <a:round/>
                      <a:headEnd type="none" w="med" len="med"/>
                      <a:tailEnd type="none" w="med" len="med"/>
                    </a:lnT>
                    <a:lnB w="12700" cap="flat" cmpd="sng" algn="ctr">
                      <a:solidFill>
                        <a:srgbClr val="C5C4C1"/>
                      </a:solidFill>
                      <a:prstDash val="solid"/>
                      <a:round/>
                      <a:headEnd type="none" w="med" len="med"/>
                      <a:tailEnd type="none" w="med" len="med"/>
                    </a:lnB>
                  </a:tcPr>
                </a:tc>
              </a:tr>
              <a:tr h="385961">
                <a:tc>
                  <a:txBody>
                    <a:bodyPr/>
                    <a:lstStyle/>
                    <a:p>
                      <a:pP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LightGBM final</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5C4C1"/>
                      </a:solidFill>
                      <a:prstDash val="solid"/>
                      <a:round/>
                      <a:headEnd type="none" w="med" len="med"/>
                      <a:tailEnd type="none" w="med" len="med"/>
                    </a:lnL>
                    <a:lnR w="12700" cap="flat" cmpd="sng" algn="ctr">
                      <a:solidFill>
                        <a:srgbClr val="C9B9AB"/>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9B9AB"/>
                      </a:solidFill>
                      <a:prstDash val="solid"/>
                      <a:round/>
                      <a:headEnd type="none" w="med" len="med"/>
                      <a:tailEnd type="none" w="med" len="med"/>
                    </a:lnB>
                    <a:solidFill>
                      <a:srgbClr val="FCE7D6"/>
                    </a:solidFill>
                  </a:tcPr>
                </a:tc>
                <a:tc>
                  <a:txBody>
                    <a:bodyPr/>
                    <a:lstStyle/>
                    <a:p>
                      <a:pPr algn="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9,9 %</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B9AB"/>
                      </a:solidFill>
                      <a:prstDash val="solid"/>
                      <a:round/>
                      <a:headEnd type="none" w="med" len="med"/>
                      <a:tailEnd type="none" w="med" len="med"/>
                    </a:lnL>
                    <a:lnR w="12700" cap="flat" cmpd="sng" algn="ctr">
                      <a:solidFill>
                        <a:srgbClr val="C9B9AB"/>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9B9AB"/>
                      </a:solidFill>
                      <a:prstDash val="solid"/>
                      <a:round/>
                      <a:headEnd type="none" w="med" len="med"/>
                      <a:tailEnd type="none" w="med" len="med"/>
                    </a:lnB>
                    <a:solidFill>
                      <a:srgbClr val="FCE7D6"/>
                    </a:solidFill>
                  </a:tcPr>
                </a:tc>
                <a:tc>
                  <a:txBody>
                    <a:bodyPr/>
                    <a:lstStyle/>
                    <a:p>
                      <a:pPr algn="r" indent="0" marL="0">
                        <a:lnSpc>
                          <a:spcPts val="1960"/>
                        </a:lnSpc>
                        <a:buNone/>
                      </a:pPr>
                      <a:r>
                        <a:rPr lang="en-US" sz="1400" dirty="0">
                          <a:solidFill>
                            <a:srgbClr val="14213D"/>
                          </a:solidFill>
                          <a:latin typeface="IBM Plex Sans" pitchFamily="34" charset="0"/>
                          <a:ea typeface="IBM Plex Sans" pitchFamily="34" charset="-122"/>
                          <a:cs typeface="IBM Plex Sans" pitchFamily="34" charset="-120"/>
                        </a:rPr>
                        <a:t>50,4 %</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9B9AB"/>
                      </a:solidFill>
                      <a:prstDash val="solid"/>
                      <a:round/>
                      <a:headEnd type="none" w="med" len="med"/>
                      <a:tailEnd type="none" w="med" len="med"/>
                    </a:lnL>
                    <a:lnR w="12700" cap="flat" cmpd="sng" algn="ctr">
                      <a:solidFill>
                        <a:srgbClr val="C9B9AB"/>
                      </a:solidFill>
                      <a:prstDash val="solid"/>
                      <a:round/>
                      <a:headEnd type="none" w="med" len="med"/>
                      <a:tailEnd type="none" w="med" len="med"/>
                    </a:lnR>
                    <a:lnT w="12700" cap="flat" cmpd="sng" algn="ctr">
                      <a:solidFill>
                        <a:srgbClr val="C5C4C1"/>
                      </a:solidFill>
                      <a:prstDash val="solid"/>
                      <a:round/>
                      <a:headEnd type="none" w="med" len="med"/>
                      <a:tailEnd type="none" w="med" len="med"/>
                    </a:lnT>
                    <a:lnB w="12700" cap="flat" cmpd="sng" algn="ctr">
                      <a:solidFill>
                        <a:srgbClr val="C9B9AB"/>
                      </a:solidFill>
                      <a:prstDash val="solid"/>
                      <a:round/>
                      <a:headEnd type="none" w="med" len="med"/>
                      <a:tailEnd type="none" w="med" len="med"/>
                    </a:lnB>
                    <a:solidFill>
                      <a:srgbClr val="FCE7D6"/>
                    </a:solidFill>
                  </a:tcPr>
                </a:tc>
              </a:tr>
            </a:tbl>
          </a:graphicData>
        </a:graphic>
      </p:graphicFrame>
      <p:sp>
        <p:nvSpPr>
          <p:cNvPr id="5" name="Text 2"/>
          <p:cNvSpPr/>
          <p:nvPr/>
        </p:nvSpPr>
        <p:spPr>
          <a:xfrm>
            <a:off x="7823200" y="2659162"/>
            <a:ext cx="3662680"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B4470A"/>
                </a:solidFill>
                <a:latin typeface="Rubik" pitchFamily="34" charset="0"/>
                <a:ea typeface="Rubik" pitchFamily="34" charset="-122"/>
                <a:cs typeface="Rubik" pitchFamily="34" charset="-120"/>
              </a:rPr>
              <a:t>0,948</a:t>
            </a:r>
            <a:endParaRPr lang="en-US" sz="3600" dirty="0"/>
          </a:p>
        </p:txBody>
      </p:sp>
      <p:sp>
        <p:nvSpPr>
          <p:cNvPr id="6" name="Text 3"/>
          <p:cNvSpPr/>
          <p:nvPr/>
        </p:nvSpPr>
        <p:spPr>
          <a:xfrm>
            <a:off x="7823200" y="3154462"/>
            <a:ext cx="366268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R² en escala logarítmica</a:t>
            </a:r>
            <a:endParaRPr lang="en-US" sz="1300" dirty="0"/>
          </a:p>
        </p:txBody>
      </p:sp>
      <p:sp>
        <p:nvSpPr>
          <p:cNvPr id="7" name="Text 4"/>
          <p:cNvSpPr/>
          <p:nvPr/>
        </p:nvSpPr>
        <p:spPr>
          <a:xfrm>
            <a:off x="7823200" y="3588742"/>
            <a:ext cx="3662680"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B4470A"/>
                </a:solidFill>
                <a:latin typeface="Rubik" pitchFamily="34" charset="0"/>
                <a:ea typeface="Rubik" pitchFamily="34" charset="-122"/>
                <a:cs typeface="Rubik" pitchFamily="34" charset="-120"/>
              </a:rPr>
              <a:t>80,7 %</a:t>
            </a:r>
            <a:endParaRPr lang="en-US" sz="3600" dirty="0"/>
          </a:p>
        </p:txBody>
      </p:sp>
      <p:sp>
        <p:nvSpPr>
          <p:cNvPr id="8" name="Text 5"/>
          <p:cNvSpPr/>
          <p:nvPr/>
        </p:nvSpPr>
        <p:spPr>
          <a:xfrm>
            <a:off x="7823200" y="4084042"/>
            <a:ext cx="366268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pitchFamily="34" charset="0"/>
                <a:ea typeface="IBM Plex Sans" pitchFamily="34" charset="-122"/>
                <a:cs typeface="IBM Plex Sans" pitchFamily="34" charset="-120"/>
              </a:rPr>
              <a:t>de precios dentro del intervalo del 80 %</a:t>
            </a:r>
            <a:endParaRPr lang="en-US" sz="1300" dirty="0"/>
          </a:p>
        </p:txBody>
      </p:sp>
      <p:sp>
        <p:nvSpPr>
          <p:cNvPr id="9" name="Text 6"/>
          <p:cNvSpPr/>
          <p:nvPr/>
        </p:nvSpPr>
        <p:spPr>
          <a:xfrm>
            <a:off x="812800" y="5155307"/>
            <a:ext cx="10464800"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5568"/>
                </a:solidFill>
                <a:latin typeface="IBM Plex Sans" pitchFamily="34" charset="0"/>
                <a:ea typeface="IBM Plex Sans" pitchFamily="34" charset="-122"/>
                <a:cs typeface="IBM Plex Sans" pitchFamily="34" charset="-120"/>
              </a:rPr>
              <a:t>Aprendizaje clave: la calidad de datos cambió más el resultado que el algoritmo. Quitar duplicados y agrupar el test dio una métrica honesta; con fuga, el error parecía mejor de lo que era.</a:t>
            </a:r>
            <a:endParaRPr lang="en-US" sz="1400" dirty="0"/>
          </a:p>
        </p:txBody>
      </p:sp>
      <p:sp>
        <p:nvSpPr>
          <p:cNvPr id="10" name="Text 7"/>
          <p:cNvSpPr/>
          <p:nvPr/>
        </p:nvSpPr>
        <p:spPr>
          <a:xfrm>
            <a:off x="812800" y="6238280"/>
            <a:ext cx="71056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280"/>
                </a:solidFill>
                <a:latin typeface="IBM Plex Sans" pitchFamily="34" charset="0"/>
                <a:ea typeface="IBM Plex Sans" pitchFamily="34" charset="-122"/>
                <a:cs typeface="IBM Plex Sans" pitchFamily="34" charset="-120"/>
              </a:rPr>
              <a:t>Corrida 20261016-193214-price · 9.300 avisos de test · precio publicado, no de cierre</a:t>
            </a:r>
            <a:endParaRPr lang="en-US" sz="1200" dirty="0"/>
          </a:p>
        </p:txBody>
      </p:sp>
    </p:spTree>
  </p:cSld>
  <p:clrMapOvr>
    <a:masterClrMapping/>
  </p:clrMapOvr>
</p:sld>
</file>

<file path=ppt/theme/theme1.xml><?xml version="1.0" encoding="utf-8"?>
<a:theme xmlns:a="http://schemas.openxmlformats.org/drawingml/2006/main" name="ZonaProp Scraper · Defensa">
  <a:themeElements>
    <a:clrScheme name="ZonaProp Scraper · Defensa">
      <a:dk1>
        <a:srgbClr val="14213D"/>
      </a:dk1>
      <a:lt1>
        <a:srgbClr val="F7F6F2"/>
      </a:lt1>
      <a:dk2>
        <a:srgbClr val="4D566A"/>
      </a:dk2>
      <a:lt2>
        <a:srgbClr val="E0E1E0"/>
      </a:lt2>
      <a:accent1>
        <a:srgbClr val="B4470A"/>
      </a:accent1>
      <a:accent2>
        <a:srgbClr val="F4A261"/>
      </a:accent2>
      <a:accent3>
        <a:srgbClr val="E8590C"/>
      </a:accent3>
      <a:accent4>
        <a:srgbClr val="4A5568"/>
      </a:accent4>
      <a:accent5>
        <a:srgbClr val="C9D3E6"/>
      </a:accent5>
      <a:accent6>
        <a:srgbClr val="6B7280"/>
      </a:accent6>
      <a:hlink>
        <a:srgbClr val="0563C1"/>
      </a:hlink>
      <a:folHlink>
        <a:srgbClr val="954F72"/>
      </a:folHlink>
    </a:clrScheme>
    <a:fontScheme name="ZonaProp Scraper · Defensa">
      <a:majorFont>
        <a:latin typeface="Rubi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ZonaProp Scraper · Defensa</dc:title>
  <dc:subject/>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Rubik
Copyright 2015 The Rubik Project Authors (https://github.com/googlefonts/rubik)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dc:creator/>
  <cp:lastModifiedBy/>
  <cp:revision>1</cp:revision>
  <dcterms:created xsi:type="dcterms:W3CDTF">2026-10-21T21:24:03Z</dcterms:created>
  <dcterms:modified xsi:type="dcterms:W3CDTF">2026-10-21T21:24:03Z</dcterms:modified>
</cp:coreProperties>
</file>