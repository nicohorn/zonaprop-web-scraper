
<file path=[Content_Types].xml><?xml version="1.0" encoding="utf-8"?>
<Types xmlns="http://schemas.openxmlformats.org/package/2006/content-types">
  <Default Extension="fntdata" ContentType="application/x-fontdata"/>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65" r:id="rId4"/>
    <p:sldId id="258" r:id="rId5"/>
    <p:sldId id="259" r:id="rId6"/>
    <p:sldId id="260" r:id="rId7"/>
    <p:sldId id="261" r:id="rId8"/>
    <p:sldId id="262" r:id="rId9"/>
    <p:sldId id="263" r:id="rId10"/>
  </p:sldIdLst>
  <p:sldSz cx="12192000" cy="6858000"/>
  <p:notesSz cx="6858000" cy="12192000"/>
  <p:embeddedFontLst>
    <p:embeddedFont>
      <p:font typeface="IBM Plex Sans" panose="020B0503050203000203" pitchFamily="34" charset="0"/>
      <p:regular r:id="rId12"/>
      <p:bold r:id="rId13"/>
    </p:embeddedFont>
    <p:embeddedFont>
      <p:font typeface="Rubik" panose="020B0604020202020204" charset="-79"/>
      <p:regular r:id="rId14"/>
      <p:bold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4628" autoAdjust="0"/>
  </p:normalViewPr>
  <p:slideViewPr>
    <p:cSldViewPr snapToGrid="0" snapToObjects="1">
      <p:cViewPr varScale="1">
        <p:scale>
          <a:sx n="109" d="100"/>
          <a:sy n="109" d="100"/>
        </p:scale>
        <p:origin x="126" y="6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6047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[0:30 min · acumulado 0:30]</a:t>
            </a:r>
          </a:p>
          <a:p>
            <a:r>
              <a:rPr lang="es-ES" dirty="0"/>
              <a:t>Buenas. Somos Ornela Corsetti, Aimé </a:t>
            </a:r>
            <a:r>
              <a:rPr lang="es-ES" dirty="0" err="1"/>
              <a:t>Giorlano</a:t>
            </a:r>
            <a:r>
              <a:rPr lang="es-ES" dirty="0"/>
              <a:t>, Nicolás </a:t>
            </a:r>
            <a:r>
              <a:rPr lang="es-ES" dirty="0" err="1"/>
              <a:t>Horn</a:t>
            </a:r>
            <a:r>
              <a:rPr lang="es-ES" dirty="0"/>
              <a:t> y Tomás </a:t>
            </a:r>
            <a:r>
              <a:rPr lang="es-ES" dirty="0" err="1"/>
              <a:t>Rodriguez</a:t>
            </a:r>
            <a:r>
              <a:rPr lang="es-ES" dirty="0"/>
              <a:t> Zurro.</a:t>
            </a:r>
          </a:p>
          <a:p>
            <a:r>
              <a:rPr lang="es-ES" dirty="0"/>
              <a:t>Nuestro trabajo integrador es </a:t>
            </a:r>
            <a:r>
              <a:rPr lang="es-ES" dirty="0" err="1"/>
              <a:t>ZonaProp</a:t>
            </a:r>
            <a:r>
              <a:rPr lang="es-ES" dirty="0"/>
              <a:t> </a:t>
            </a:r>
            <a:r>
              <a:rPr lang="es-ES" dirty="0" err="1"/>
              <a:t>Scraper</a:t>
            </a:r>
            <a:r>
              <a:rPr lang="es-ES" dirty="0"/>
              <a:t>: construimos desde cero un </a:t>
            </a:r>
            <a:r>
              <a:rPr lang="es-ES" dirty="0" err="1"/>
              <a:t>dataset</a:t>
            </a:r>
            <a:r>
              <a:rPr lang="es-ES" dirty="0"/>
              <a:t> de avisos inmobiliarios de CABA extrayéndolo de la web, validamos que esos datos son confiables y los usamos para estimar el precio de un departamento.</a:t>
            </a:r>
          </a:p>
          <a:p>
            <a:r>
              <a:rPr lang="es-ES" dirty="0"/>
              <a:t>En unos 15 minutos vamos a recorrer el problema, la arquitectura, el </a:t>
            </a:r>
            <a:r>
              <a:rPr lang="es-ES" dirty="0" err="1"/>
              <a:t>scraper</a:t>
            </a:r>
            <a:r>
              <a:rPr lang="es-ES" dirty="0"/>
              <a:t> y sus dificultades, el control de calidad de los datos, el modelo y los resultados.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a:t>[1:15 min · acumulado 1:45]</a:t>
            </a:r>
          </a:p>
          <a:p>
            <a:r>
              <a:rPr lang="es-ES"/>
              <a:t>La pregunta de fondo es simple: ¿cuánto debería valer un departamento en CABA según sus características?</a:t>
            </a:r>
          </a:p>
          <a:p>
            <a:r>
              <a:rPr lang="es-ES"/>
              <a:t>El problema es que ese dato no está abierto. ZonaProp concentra la mayor parte de la oferta, pero no tiene una API pública: si queremos analizar el mercado, tenemos que extraer la información de la web.</a:t>
            </a:r>
          </a:p>
          <a:p>
            <a:r>
              <a:rPr lang="es-ES"/>
              <a:t>Concretamente, buscamos estimar el precio publicado en dólares de un departamento en venta, a partir del barrio, los metros, los ambientes y lo que dice el aviso.</a:t>
            </a:r>
          </a:p>
          <a:p>
            <a:r>
              <a:rPr lang="es-ES"/>
              <a:t>Lo que entregamos es un scraper reutilizable, un dataset de 105 mil avisos, un control de calidad y un modelo con una interfaz local.</a:t>
            </a:r>
          </a:p>
          <a:p>
            <a:r>
              <a:rPr lang="es-ES"/>
              <a:t>Y para la materia, el foco está abajo: que la extracción sea completa, correcta y reproducible. El modelo es el uso de esos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Marcador de notas 2"/>
          <p:cNvSpPr>
            <a:spLocks noGrp="1"/>
          </p:cNvSpPr>
          <p:nvPr>
            <p:ph type="body" idx="1"/>
          </p:nvPr>
        </p:nvSpPr>
        <p:spPr>
          <a:xfrm>
            <a:off x="685800" y="5867400"/>
            <a:ext cx="5486400" cy="4800600"/>
          </a:xfrm>
          <a:prstGeom prst="rect">
            <a:avLst/>
          </a:prstGeom>
        </p:spPr>
        <p:txBody>
          <a:bodyPr/>
          <a:lstStyle/>
          <a:p>
            <a:r>
              <a:rPr lang="es-ES"/>
              <a:t>[1:15 min · acumulado 3:00]</a:t>
            </a:r>
          </a:p>
          <a:p>
            <a:r>
              <a:rPr lang="es-ES"/>
              <a:t>Antes de ver cómo lo construimos, ¿para qué sirve una estimación de precio? Vemos cuatro usos.</a:t>
            </a:r>
          </a:p>
          <a:p>
            <a:r>
              <a:rPr lang="es-ES"/>
              <a:t>Uno: un comprador o un vendedor puede comparar el precio publicado contra lo que estima el modelo para las mismas características, antes de negociar.</a:t>
            </a:r>
          </a:p>
          <a:p>
            <a:r>
              <a:rPr lang="es-ES"/>
              <a:t>Dos: oportunidades de compra. Si ordenamos los avisos vigentes por la brecha entre precio publicado y precio estimado, sabemos cuáles conviene visitar primero.</a:t>
            </a:r>
          </a:p>
          <a:p>
            <a:r>
              <a:rPr lang="es-ES"/>
              <a:t>Tres: tasación de referencia. Una inmobiliaria tiene un valor objetivo de dólares por metro cuadrado por barrio para fijar o justificar un precio.</a:t>
            </a:r>
          </a:p>
          <a:p>
            <a:r>
              <a:rPr lang="es-ES"/>
              <a:t>Y cuatro: monitoreo del mercado. Como el scraper se puede volver a correr, se puede reentrenar y seguir la evolución por barrio sin depender de reportes de terceros.</a:t>
            </a:r>
            <a:endParaRPr lang="es-AR"/>
          </a:p>
        </p:txBody>
      </p:sp>
    </p:spTree>
    <p:extLst>
      <p:ext uri="{BB962C8B-B14F-4D97-AF65-F5344CB8AC3E}">
        <p14:creationId xmlns:p14="http://schemas.microsoft.com/office/powerpoint/2010/main" val="7173034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a:t>[1:15 min · acumulado 4:15]</a:t>
            </a:r>
          </a:p>
          <a:p>
            <a:r>
              <a:rPr lang="es-ES"/>
              <a:t>La arquitectura son cuatro piezas que corren en una sola máquina, sin servicios externos.</a:t>
            </a:r>
          </a:p>
          <a:p>
            <a:r>
              <a:rPr lang="es-ES"/>
              <a:t>Primero la adquisición: un crawler en Node.js con Puppeteer, que maneja un Chrome real, y parsers con Cheerio que leen el HTML.</a:t>
            </a:r>
          </a:p>
          <a:p>
            <a:r>
              <a:rPr lang="es-ES"/>
              <a:t>Segundo el almacenamiento: cada aviso se escribe en un archivo JSONL apenas se lee, una línea por aviso, y un archivo frontier.json guarda por dónde va la exploración.</a:t>
            </a:r>
          </a:p>
          <a:p>
            <a:r>
              <a:rPr lang="es-ES"/>
              <a:t>Tercero el análisis, en Python, con pandas, scikit-learn y LightGBM: ahí están el control de calidad y los modelos.</a:t>
            </a:r>
          </a:p>
          <a:p>
            <a:r>
              <a:rPr lang="es-ES"/>
              <a:t>Y cuarto, una interfaz local para usar todo: lanzar el scraper, ver la calidad de los datos y entrenar o consultar los modelos.</a:t>
            </a:r>
          </a:p>
          <a:p>
            <a:r>
              <a:rPr lang="es-ES"/>
              <a:t>Cada corrida queda guardada con sus parámetros, métricas y gráficos, así que los resultados son reproducibles.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a:t>[1:45 min · acumulado 6:00]</a:t>
            </a:r>
          </a:p>
          <a:p>
            <a:r>
              <a:rPr lang="es-ES"/>
              <a:t>El scraper recorre los listados como lo haría una persona.</a:t>
            </a:r>
          </a:p>
          <a:p>
            <a:r>
              <a:rPr lang="es-ES"/>
              <a:t>En una corrida de unas 8 horas, el 15 de octubre, guardamos 105.413 avisos de CABA, entre venta, alquiler y alquiler temporario.</a:t>
            </a:r>
          </a:p>
          <a:p>
            <a:r>
              <a:rPr lang="es-ES"/>
              <a:t>El proceso tiene cuatro pasos. Uno: arma las búsquedas combinando operación, tipo y zona; cada página trae 30 avisos.</a:t>
            </a:r>
          </a:p>
          <a:p>
            <a:r>
              <a:rPr lang="es-ES"/>
              <a:t>Dos: parsea cada tarjeta del listado y extrae precio, moneda, metros, ambientes, expensas, ubicación e inmobiliaria.</a:t>
            </a:r>
          </a:p>
          <a:p>
            <a:r>
              <a:rPr lang="es-ES"/>
              <a:t>Tres: guarda de forma incremental, sin repetir avisos por id, y si un aviso vuelve a aparecer con otro precio, registra el cambio.</a:t>
            </a:r>
          </a:p>
          <a:p>
            <a:r>
              <a:rPr lang="es-ES"/>
              <a:t>Cuatro: va a ritmo humano, una página cada cinco segundos aproximadamente, con pausas al azar y un solo navegador. Es scraping con fines académicos y no lo paralelizamos a propósito.</a:t>
            </a:r>
          </a:p>
          <a:p>
            <a:r>
              <a:rPr lang="es-ES"/>
              <a:t>Hay además una segunda fase opcional que visita la ficha de cada aviso para traer datos como la antigüedad o la superficie cubierta.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a:t>[1:45 min · acumulado 7:45]</a:t>
            </a:r>
          </a:p>
          <a:p>
            <a:r>
              <a:rPr lang="es-ES"/>
              <a:t>Las dificultades fueron la parte más interesante, porque el sitio no está pensado para ser scrapeado.</a:t>
            </a:r>
          </a:p>
          <a:p>
            <a:r>
              <a:rPr lang="es-ES"/>
              <a:t>Lo primero es Cloudflare, que bloquea bots. Por eso usamos un Chrome real con un perfil persistente, desde una conexión residencial; y cuando aparece la verificación, se resuelve a mano.</a:t>
            </a:r>
          </a:p>
          <a:p>
            <a:r>
              <a:rPr lang="es-ES"/>
              <a:t>Segundo, ZonaProp corta la paginación: una búsqueda grande no se puede recorrer completa. La solución fue partir cada búsqueda por rangos de precio, de forma recursiva, hasta que cada parte entra en el tope.</a:t>
            </a:r>
          </a:p>
          <a:p>
            <a:r>
              <a:rPr lang="es-ES"/>
              <a:t>Tercero, cuando una búsqueda trae pocos resultados, el sitio la rellena con avisos de otras zonas. Filtramos por ubicación y sólo guardamos lo que pertenece a un barrio de CABA.</a:t>
            </a:r>
          </a:p>
          <a:p>
            <a:r>
              <a:rPr lang="es-ES"/>
              <a:t>Cuarto, el sitio no da errores: no hay 404, sino redirecciones o páginas repetidas. Hay que detectarlas para saber dónde termina cada búsqueda.</a:t>
            </a:r>
          </a:p>
          <a:p>
            <a:r>
              <a:rPr lang="es-ES"/>
              <a:t>Y quinto, una corrida dura horas y se puede cortar. Como todo se guarda a medida que se lee, la corrida siguiente retoma en la misma búsqueda y página.</a:t>
            </a:r>
          </a:p>
          <a:p>
            <a:r>
              <a:rPr lang="es-ES"/>
              <a:t>Los parsers además tienen tests contra capturas reales del sitio.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[2:30 min · acumulado 10:15]</a:t>
            </a:r>
          </a:p>
          <a:p>
            <a:r>
              <a:rPr lang="es-ES" dirty="0"/>
              <a:t>Ahora, ¿cómo sabemos que el </a:t>
            </a:r>
            <a:r>
              <a:rPr lang="es-ES" dirty="0" err="1"/>
              <a:t>scraper</a:t>
            </a:r>
            <a:r>
              <a:rPr lang="es-ES" dirty="0"/>
              <a:t> funciona bien? Lo medimos. La clave es separar los errores del </a:t>
            </a:r>
            <a:r>
              <a:rPr lang="es-ES" dirty="0" err="1"/>
              <a:t>scraper</a:t>
            </a:r>
            <a:r>
              <a:rPr lang="es-ES" dirty="0"/>
              <a:t> de los errores de quien publica.</a:t>
            </a:r>
          </a:p>
          <a:p>
            <a:r>
              <a:rPr lang="es-ES" dirty="0"/>
              <a:t>[Mientras corre el video] Esta es la pantalla de Calidad de datos: genera un reporte con seis chequeos y un estado para cada uno.</a:t>
            </a:r>
          </a:p>
          <a:p>
            <a:r>
              <a:rPr lang="es-ES" dirty="0"/>
              <a:t>Primero, integridad: las 15 reglas de unicidad y formato tienen cero fallas. Ningún aviso guardado dos veces, </a:t>
            </a:r>
            <a:r>
              <a:rPr lang="es-ES" dirty="0" err="1"/>
              <a:t>ids</a:t>
            </a:r>
            <a:r>
              <a:rPr lang="es-ES" dirty="0"/>
              <a:t>, </a:t>
            </a:r>
            <a:r>
              <a:rPr lang="es-ES" dirty="0" err="1"/>
              <a:t>URLs</a:t>
            </a:r>
            <a:r>
              <a:rPr lang="es-ES" dirty="0"/>
              <a:t>, fechas y monedas siempre válidos.</a:t>
            </a:r>
          </a:p>
          <a:p>
            <a:r>
              <a:rPr lang="es-ES" dirty="0"/>
              <a:t>Segundo, exactitud: comparamos lo que extrajo el </a:t>
            </a:r>
            <a:r>
              <a:rPr lang="es-ES" dirty="0" err="1"/>
              <a:t>parser</a:t>
            </a:r>
            <a:r>
              <a:rPr lang="es-ES" dirty="0"/>
              <a:t> contra la URL de cada aviso, que es una fuente independiente. La operación coincide en el 99,8 % y los ambientes en el 99,4 %.</a:t>
            </a:r>
          </a:p>
          <a:p>
            <a:r>
              <a:rPr lang="es-ES" dirty="0"/>
              <a:t>Tercero, completitud: los diez campos obligatorios están completos. Lo que falta, por ejemplo la superficie cubierta, falta porque el listado no lo muestra, no por el </a:t>
            </a:r>
            <a:r>
              <a:rPr lang="es-ES" dirty="0" err="1"/>
              <a:t>parser</a:t>
            </a:r>
            <a:r>
              <a:rPr lang="es-ES" dirty="0"/>
              <a:t>.</a:t>
            </a:r>
          </a:p>
          <a:p>
            <a:r>
              <a:rPr lang="es-ES" dirty="0"/>
              <a:t>Cuarto, el 4,7 % de los avisos repite una unidad: es la misma propiedad publicada por varias inmobiliarias. No es un error, pero hay que agruparlo.</a:t>
            </a:r>
          </a:p>
          <a:p>
            <a:r>
              <a:rPr lang="es-ES" dirty="0"/>
              <a:t>Quinto, estabilidad: medimos hora por hora cuántos campos quedaron vacíos, comparado con lo esperable para lo que se </a:t>
            </a:r>
            <a:r>
              <a:rPr lang="es-ES" dirty="0" err="1"/>
              <a:t>scrapeó</a:t>
            </a:r>
            <a:r>
              <a:rPr lang="es-ES" dirty="0"/>
              <a:t> en cada hora. Ninguna de las 8 horas se apartó: no cambió el HTML a mitad de camino.</a:t>
            </a:r>
          </a:p>
          <a:p>
            <a:r>
              <a:rPr lang="es-ES" dirty="0"/>
              <a:t>Y la cobertura es del 70 % de lo que anunciaba el sitio. Es una cota inferior: hay avisos que aparecen en varias búsquedas y descartes intencionales.</a:t>
            </a:r>
          </a:p>
          <a:p>
            <a:r>
              <a:rPr lang="es-ES" dirty="0"/>
              <a:t>Del lado del origen, el reporte encuentra menos de un 2,2 % de datos mal cargados por los anunciantes, como ventas en pesos con montos en dólares.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[2:00 min · acumulado 12:15]</a:t>
            </a:r>
          </a:p>
          <a:p>
            <a:r>
              <a:rPr lang="es-ES" dirty="0"/>
              <a:t>Con esos datos entrenamos el modelo de precio.</a:t>
            </a:r>
          </a:p>
          <a:p>
            <a:r>
              <a:rPr lang="es-ES" dirty="0"/>
              <a:t>Datos: departamentos en venta en dólares, limpios con reglas de consistencia, sin avisos de pozo, que publican precios parciales, y sin duplicados confirmados.</a:t>
            </a:r>
          </a:p>
          <a:p>
            <a:r>
              <a:rPr lang="es-ES" dirty="0"/>
              <a:t>Variables: metros, ambientes, barrio y calle, y atributos del texto del aviso. Del texto quitamos todos los montos, para que el modelo no lea el precio de la descripción.</a:t>
            </a:r>
          </a:p>
          <a:p>
            <a:r>
              <a:rPr lang="es-ES" dirty="0"/>
              <a:t>El modelo es </a:t>
            </a:r>
            <a:r>
              <a:rPr lang="es-ES" dirty="0" err="1"/>
              <a:t>LightGBM</a:t>
            </a:r>
            <a:r>
              <a:rPr lang="es-ES" dirty="0"/>
              <a:t> y predice el logaritmo del precio por metro cuadrado.</a:t>
            </a:r>
          </a:p>
          <a:p>
            <a:r>
              <a:rPr lang="es-ES" dirty="0"/>
              <a:t>La decisión más importante fue la validación. Como la misma unidad aparece varias veces, un </a:t>
            </a:r>
            <a:r>
              <a:rPr lang="es-ES" dirty="0" err="1"/>
              <a:t>split</a:t>
            </a:r>
            <a:r>
              <a:rPr lang="es-ES" dirty="0"/>
              <a:t> aleatorio deja copias del mismo departamento en </a:t>
            </a:r>
            <a:r>
              <a:rPr lang="es-ES" dirty="0" err="1"/>
              <a:t>train</a:t>
            </a:r>
            <a:r>
              <a:rPr lang="es-ES" dirty="0"/>
              <a:t> y en test, y el error sale artificialmente bajo. Por eso el test se separa agrupando por unidad: la misma propiedad nunca está de los dos lados.</a:t>
            </a:r>
          </a:p>
          <a:p>
            <a:r>
              <a:rPr lang="es-ES" dirty="0"/>
              <a:t>Los </a:t>
            </a:r>
            <a:r>
              <a:rPr lang="es-ES" dirty="0" err="1"/>
              <a:t>hiperparámetros</a:t>
            </a:r>
            <a:r>
              <a:rPr lang="es-ES" dirty="0"/>
              <a:t> se eligieron con validación cruzada de cinco </a:t>
            </a:r>
            <a:r>
              <a:rPr lang="es-ES" dirty="0" err="1"/>
              <a:t>folds</a:t>
            </a:r>
            <a:r>
              <a:rPr lang="es-ES" dirty="0"/>
              <a:t>, también agrupada, y el modelo da además un intervalo del 80 % para cada predicción.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a:t>[1:45 min · acumulado 14:00]</a:t>
            </a:r>
          </a:p>
          <a:p>
            <a:r>
              <a:rPr lang="es-ES"/>
              <a:t>Los resultados, medidos sobre 9.300 departamentos que el modelo nunca vio.</a:t>
            </a:r>
          </a:p>
          <a:p>
            <a:r>
              <a:rPr lang="es-ES"/>
              <a:t>La referencia más simple, la mediana de dólares por metro del barrio por la superficie, se equivoca un 18,5 % en la mediana. Una regresión lineal, un 14,4 %. Nuestro LightGBM final, un 9,9 %, y la mitad de las predicciones cae dentro de más o menos 10 % del precio publicado.</a:t>
            </a:r>
          </a:p>
          <a:p>
            <a:r>
              <a:rPr lang="es-ES"/>
              <a:t>El R² en escala logarítmica es 0,948 y el intervalo del 80 % contiene al 80,7 % de los precios: está bien calibrado.</a:t>
            </a:r>
          </a:p>
          <a:p>
            <a:r>
              <a:rPr lang="es-ES"/>
              <a:t>El aprendizaje principal: la calidad de los datos movió el resultado más que el algoritmo. Quitar duplicados y agrupar el test nos dio una métrica honesta; con fuga, el error parecía mejor de lo que era.</a:t>
            </a:r>
          </a:p>
          <a:p>
            <a:r>
              <a:rPr lang="es-ES"/>
              <a:t>Como límites, es una sola foto del mercado y son precios publicados, no de cierre.</a:t>
            </a:r>
          </a:p>
          <a:p>
            <a:r>
              <a:rPr lang="es-ES"/>
              <a:t>Gracias.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4868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Rubik" pitchFamily="34" charset="0"/>
                <a:ea typeface="Rubik" pitchFamily="34" charset="-122"/>
                <a:cs typeface="Rubi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156321"/>
            <a:ext cx="10566400" cy="388887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4868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Rubik" pitchFamily="34" charset="0"/>
                <a:ea typeface="Rubik" pitchFamily="34" charset="-122"/>
                <a:cs typeface="Rubi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156321"/>
            <a:ext cx="10566400" cy="388887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8590C"/>
          </a:solidFill>
          <a:ln/>
        </p:spPr>
      </p:sp>
      <p:sp>
        <p:nvSpPr>
          <p:cNvPr id="3" name="Text 1"/>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4A261"/>
                </a:solidFill>
                <a:latin typeface="IBM Plex Sans" pitchFamily="34" charset="0"/>
                <a:ea typeface="IBM Plex Sans" pitchFamily="34" charset="-122"/>
                <a:cs typeface="IBM Plex Sans" pitchFamily="34" charset="-120"/>
              </a:rPr>
              <a:t>WEB MINING · TRABAJO INTEGRADOR</a:t>
            </a:r>
            <a:endParaRPr lang="en-US" sz="1400" dirty="0"/>
          </a:p>
        </p:txBody>
      </p:sp>
      <p:sp>
        <p:nvSpPr>
          <p:cNvPr id="4" name="Text 2"/>
          <p:cNvSpPr>
            <a:spLocks noGrp="1"/>
          </p:cNvSpPr>
          <p:nvPr>
            <p:ph type="title"/>
          </p:nvPr>
        </p:nvSpPr>
        <p:spPr>
          <a:xfrm>
            <a:off x="812800" y="2564209"/>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7F6F2"/>
                </a:solidFill>
                <a:latin typeface="Rubik" pitchFamily="34" charset="0"/>
                <a:ea typeface="Rubik" pitchFamily="34" charset="-122"/>
                <a:cs typeface="Rubik" pitchFamily="34" charset="-120"/>
              </a:rPr>
              <a:t>ZonaProp Scraper</a:t>
            </a:r>
            <a:endParaRPr lang="en-US" sz="6000" dirty="0"/>
          </a:p>
        </p:txBody>
      </p:sp>
      <p:sp>
        <p:nvSpPr>
          <p:cNvPr id="5" name="Text 3"/>
          <p:cNvSpPr/>
          <p:nvPr/>
        </p:nvSpPr>
        <p:spPr>
          <a:xfrm>
            <a:off x="812800" y="3567509"/>
            <a:ext cx="8502650" cy="751681"/>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9D3E6"/>
                </a:solidFill>
                <a:latin typeface="IBM Plex Sans" pitchFamily="34" charset="0"/>
                <a:ea typeface="IBM Plex Sans" pitchFamily="34" charset="-122"/>
                <a:cs typeface="IBM Plex Sans" pitchFamily="34" charset="-120"/>
              </a:rPr>
              <a:t>Del listado web a un modelo de precio de departamentos en CABA</a:t>
            </a:r>
            <a:endParaRPr lang="en-US" sz="2200" dirty="0"/>
          </a:p>
        </p:txBody>
      </p:sp>
      <p:sp>
        <p:nvSpPr>
          <p:cNvPr id="6" name="Text 4"/>
          <p:cNvSpPr/>
          <p:nvPr/>
        </p:nvSpPr>
        <p:spPr>
          <a:xfrm>
            <a:off x="812800" y="5796359"/>
            <a:ext cx="1070512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6"/>
                </a:solidFill>
                <a:latin typeface="IBM Plex Sans" pitchFamily="34" charset="0"/>
                <a:ea typeface="IBM Plex Sans" pitchFamily="34" charset="-122"/>
                <a:cs typeface="IBM Plex Sans" pitchFamily="34" charset="-120"/>
              </a:rPr>
              <a:t>Corsetti, Ornela; </a:t>
            </a:r>
            <a:r>
              <a:rPr lang="en-US" sz="1400" dirty="0" err="1">
                <a:solidFill>
                  <a:srgbClr val="C9D3E6"/>
                </a:solidFill>
                <a:latin typeface="IBM Plex Sans" pitchFamily="34" charset="0"/>
                <a:ea typeface="IBM Plex Sans" pitchFamily="34" charset="-122"/>
                <a:cs typeface="IBM Plex Sans" pitchFamily="34" charset="-120"/>
              </a:rPr>
              <a:t>Giorlano</a:t>
            </a:r>
            <a:r>
              <a:rPr lang="en-US" sz="1400" dirty="0">
                <a:solidFill>
                  <a:srgbClr val="C9D3E6"/>
                </a:solidFill>
                <a:latin typeface="IBM Plex Sans" pitchFamily="34" charset="0"/>
                <a:ea typeface="IBM Plex Sans" pitchFamily="34" charset="-122"/>
                <a:cs typeface="IBM Plex Sans" pitchFamily="34" charset="-120"/>
              </a:rPr>
              <a:t>, </a:t>
            </a:r>
            <a:r>
              <a:rPr lang="en-US" sz="1400" dirty="0" err="1">
                <a:solidFill>
                  <a:srgbClr val="C9D3E6"/>
                </a:solidFill>
                <a:latin typeface="IBM Plex Sans" pitchFamily="34" charset="0"/>
                <a:ea typeface="IBM Plex Sans" pitchFamily="34" charset="-122"/>
                <a:cs typeface="IBM Plex Sans" pitchFamily="34" charset="-120"/>
              </a:rPr>
              <a:t>Aimé</a:t>
            </a:r>
            <a:r>
              <a:rPr lang="en-US" sz="1400" dirty="0">
                <a:solidFill>
                  <a:srgbClr val="C9D3E6"/>
                </a:solidFill>
                <a:latin typeface="IBM Plex Sans" pitchFamily="34" charset="0"/>
                <a:ea typeface="IBM Plex Sans" pitchFamily="34" charset="-122"/>
                <a:cs typeface="IBM Plex Sans" pitchFamily="34" charset="-120"/>
              </a:rPr>
              <a:t>; Horn, Nicolás; Rodriguez </a:t>
            </a:r>
            <a:r>
              <a:rPr lang="en-US" sz="1400" dirty="0" err="1">
                <a:solidFill>
                  <a:srgbClr val="C9D3E6"/>
                </a:solidFill>
                <a:latin typeface="IBM Plex Sans" pitchFamily="34" charset="0"/>
                <a:ea typeface="IBM Plex Sans" pitchFamily="34" charset="-122"/>
                <a:cs typeface="IBM Plex Sans" pitchFamily="34" charset="-120"/>
              </a:rPr>
              <a:t>Zurro</a:t>
            </a:r>
            <a:r>
              <a:rPr lang="en-US" sz="1400" dirty="0">
                <a:solidFill>
                  <a:srgbClr val="C9D3E6"/>
                </a:solidFill>
                <a:latin typeface="IBM Plex Sans" pitchFamily="34" charset="0"/>
                <a:ea typeface="IBM Plex Sans" pitchFamily="34" charset="-122"/>
                <a:cs typeface="IBM Plex Sans" pitchFamily="34" charset="-120"/>
              </a:rPr>
              <a:t>, Tomás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B4470A"/>
                </a:solidFill>
                <a:latin typeface="IBM Plex Sans" pitchFamily="34" charset="0"/>
                <a:ea typeface="IBM Plex Sans" pitchFamily="34" charset="-122"/>
                <a:cs typeface="IBM Plex Sans" pitchFamily="34" charset="-120"/>
              </a:rPr>
              <a:t>1 · EL PROBLEMA</a:t>
            </a:r>
            <a:endParaRPr lang="en-US" sz="1300" dirty="0"/>
          </a:p>
        </p:txBody>
      </p:sp>
      <p:sp>
        <p:nvSpPr>
          <p:cNvPr id="3" name="Text 1"/>
          <p:cNvSpPr>
            <a:spLocks noGrp="1"/>
          </p:cNvSpPr>
          <p:nvPr>
            <p:ph type="title"/>
          </p:nvPr>
        </p:nvSpPr>
        <p:spPr>
          <a:xfrm>
            <a:off x="812800" y="1399480"/>
            <a:ext cx="9810750" cy="103108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¿Cuánto debería valer un departamento en CABA según sus características?</a:t>
            </a:r>
            <a:endParaRPr lang="en-US" sz="3600" dirty="0"/>
          </a:p>
        </p:txBody>
      </p:sp>
      <p:sp>
        <p:nvSpPr>
          <p:cNvPr id="4" name="Shape 2"/>
          <p:cNvSpPr/>
          <p:nvPr/>
        </p:nvSpPr>
        <p:spPr>
          <a:xfrm>
            <a:off x="815975" y="2763937"/>
            <a:ext cx="3380284" cy="1885553"/>
          </a:xfrm>
          <a:prstGeom prst="roundRect">
            <a:avLst>
              <a:gd name="adj" fmla="val 5220"/>
            </a:avLst>
          </a:prstGeom>
          <a:solidFill>
            <a:srgbClr val="FFFFFF"/>
          </a:solidFill>
          <a:ln w="6350">
            <a:solidFill>
              <a:srgbClr val="DDD9CF"/>
            </a:solidFill>
            <a:prstDash val="solid"/>
          </a:ln>
        </p:spPr>
        <p:txBody>
          <a:bodyPr/>
          <a:lstStyle/>
          <a:p>
            <a:endParaRPr lang="es-AR"/>
          </a:p>
        </p:txBody>
      </p:sp>
      <p:sp>
        <p:nvSpPr>
          <p:cNvPr id="5" name="Text 3"/>
          <p:cNvSpPr/>
          <p:nvPr/>
        </p:nvSpPr>
        <p:spPr>
          <a:xfrm>
            <a:off x="1073150" y="3021112"/>
            <a:ext cx="295191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Rubik" pitchFamily="34" charset="0"/>
                <a:ea typeface="Rubik" pitchFamily="34" charset="-122"/>
                <a:cs typeface="Rubik" pitchFamily="34" charset="-120"/>
              </a:rPr>
              <a:t>El dato no está abierto</a:t>
            </a:r>
            <a:endParaRPr lang="en-US" sz="1800" dirty="0"/>
          </a:p>
        </p:txBody>
      </p:sp>
      <p:sp>
        <p:nvSpPr>
          <p:cNvPr id="6" name="Text 4"/>
          <p:cNvSpPr/>
          <p:nvPr/>
        </p:nvSpPr>
        <p:spPr>
          <a:xfrm>
            <a:off x="1073150" y="3396952"/>
            <a:ext cx="2951912"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ZonaProp concentra la oferta pero no tiene API pública: hay que extraerla de la web.</a:t>
            </a:r>
            <a:endParaRPr lang="en-US" sz="1400" dirty="0"/>
          </a:p>
        </p:txBody>
      </p:sp>
      <p:sp>
        <p:nvSpPr>
          <p:cNvPr id="7" name="Shape 5"/>
          <p:cNvSpPr/>
          <p:nvPr/>
        </p:nvSpPr>
        <p:spPr>
          <a:xfrm>
            <a:off x="4405809" y="2763937"/>
            <a:ext cx="3380383" cy="1885553"/>
          </a:xfrm>
          <a:prstGeom prst="roundRect">
            <a:avLst>
              <a:gd name="adj" fmla="val 5220"/>
            </a:avLst>
          </a:prstGeom>
          <a:solidFill>
            <a:srgbClr val="FFFFFF"/>
          </a:solidFill>
          <a:ln w="6350">
            <a:solidFill>
              <a:srgbClr val="DDD9CF"/>
            </a:solidFill>
            <a:prstDash val="solid"/>
          </a:ln>
        </p:spPr>
        <p:txBody>
          <a:bodyPr/>
          <a:lstStyle/>
          <a:p>
            <a:endParaRPr lang="es-AR"/>
          </a:p>
        </p:txBody>
      </p:sp>
      <p:sp>
        <p:nvSpPr>
          <p:cNvPr id="8" name="Text 6"/>
          <p:cNvSpPr/>
          <p:nvPr/>
        </p:nvSpPr>
        <p:spPr>
          <a:xfrm>
            <a:off x="4662984" y="3021112"/>
            <a:ext cx="2952014"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Rubik" pitchFamily="34" charset="0"/>
                <a:ea typeface="Rubik" pitchFamily="34" charset="-122"/>
                <a:cs typeface="Rubik" pitchFamily="34" charset="-120"/>
              </a:rPr>
              <a:t>La pregunta</a:t>
            </a:r>
            <a:endParaRPr lang="en-US" sz="1800" dirty="0"/>
          </a:p>
        </p:txBody>
      </p:sp>
      <p:sp>
        <p:nvSpPr>
          <p:cNvPr id="9" name="Text 7"/>
          <p:cNvSpPr/>
          <p:nvPr/>
        </p:nvSpPr>
        <p:spPr>
          <a:xfrm>
            <a:off x="4662984" y="3396952"/>
            <a:ext cx="2952014" cy="1020763"/>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Estimar el precio publicado en USD de un departamento en venta a partir de barrio, m², ambientes y lo que dice el aviso.</a:t>
            </a:r>
            <a:endParaRPr lang="en-US" sz="1400" dirty="0"/>
          </a:p>
        </p:txBody>
      </p:sp>
      <p:sp>
        <p:nvSpPr>
          <p:cNvPr id="10" name="Shape 8"/>
          <p:cNvSpPr/>
          <p:nvPr/>
        </p:nvSpPr>
        <p:spPr>
          <a:xfrm>
            <a:off x="7995741" y="2763937"/>
            <a:ext cx="3380284" cy="1885553"/>
          </a:xfrm>
          <a:prstGeom prst="roundRect">
            <a:avLst>
              <a:gd name="adj" fmla="val 5220"/>
            </a:avLst>
          </a:prstGeom>
          <a:solidFill>
            <a:srgbClr val="FFFFFF"/>
          </a:solidFill>
          <a:ln w="6350">
            <a:solidFill>
              <a:srgbClr val="DDD9CF"/>
            </a:solidFill>
            <a:prstDash val="solid"/>
          </a:ln>
        </p:spPr>
        <p:txBody>
          <a:bodyPr/>
          <a:lstStyle/>
          <a:p>
            <a:endParaRPr lang="es-AR"/>
          </a:p>
        </p:txBody>
      </p:sp>
      <p:sp>
        <p:nvSpPr>
          <p:cNvPr id="11" name="Text 9"/>
          <p:cNvSpPr/>
          <p:nvPr/>
        </p:nvSpPr>
        <p:spPr>
          <a:xfrm>
            <a:off x="8252916" y="3021112"/>
            <a:ext cx="295191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Rubik" pitchFamily="34" charset="0"/>
                <a:ea typeface="Rubik" pitchFamily="34" charset="-122"/>
                <a:cs typeface="Rubik" pitchFamily="34" charset="-120"/>
              </a:rPr>
              <a:t>El entregable</a:t>
            </a:r>
            <a:endParaRPr lang="en-US" sz="1800" dirty="0"/>
          </a:p>
        </p:txBody>
      </p:sp>
      <p:sp>
        <p:nvSpPr>
          <p:cNvPr id="12" name="Text 10"/>
          <p:cNvSpPr/>
          <p:nvPr/>
        </p:nvSpPr>
        <p:spPr>
          <a:xfrm>
            <a:off x="8252916" y="3396952"/>
            <a:ext cx="2951912"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Scraper reutilizable, dataset de 105 mil avisos, control de calidad y modelo con interfaz local.</a:t>
            </a:r>
            <a:endParaRPr lang="en-US" sz="1400" dirty="0"/>
          </a:p>
        </p:txBody>
      </p:sp>
      <p:sp>
        <p:nvSpPr>
          <p:cNvPr id="13" name="Text 11"/>
          <p:cNvSpPr/>
          <p:nvPr/>
        </p:nvSpPr>
        <p:spPr>
          <a:xfrm>
            <a:off x="812800" y="6238280"/>
            <a:ext cx="632388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Foco de Web Mining: que la extracción sea completa, correcta y reproducible.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B4470A"/>
                </a:solidFill>
                <a:latin typeface="IBM Plex Sans" pitchFamily="34" charset="0"/>
                <a:ea typeface="IBM Plex Sans" pitchFamily="34" charset="-122"/>
                <a:cs typeface="IBM Plex Sans" pitchFamily="34" charset="-120"/>
              </a:rPr>
              <a:t>2 · POTENCIALES USOS DEL MODELO</a:t>
            </a:r>
            <a:endParaRPr lang="en-US" sz="1300" dirty="0"/>
          </a:p>
        </p:txBody>
      </p:sp>
      <p:sp>
        <p:nvSpPr>
          <p:cNvPr id="3" name="Text 1"/>
          <p:cNvSpPr>
            <a:spLocks noGrp="1"/>
          </p:cNvSpPr>
          <p:nvPr>
            <p:ph type="title"/>
          </p:nvPr>
        </p:nvSpPr>
        <p:spPr>
          <a:xfrm>
            <a:off x="812800" y="1399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Cuatro maneras de usar la estimación de precio</a:t>
            </a:r>
            <a:endParaRPr lang="en-US" sz="3600" dirty="0"/>
          </a:p>
        </p:txBody>
      </p:sp>
      <p:sp>
        <p:nvSpPr>
          <p:cNvPr id="4" name="Shape 2"/>
          <p:cNvSpPr/>
          <p:nvPr/>
        </p:nvSpPr>
        <p:spPr>
          <a:xfrm>
            <a:off x="815975" y="2261096"/>
            <a:ext cx="5187950" cy="1296491"/>
          </a:xfrm>
          <a:prstGeom prst="roundRect">
            <a:avLst>
              <a:gd name="adj" fmla="val 7592"/>
            </a:avLst>
          </a:prstGeom>
          <a:solidFill>
            <a:srgbClr val="FFFFFF"/>
          </a:solidFill>
          <a:ln w="6350">
            <a:solidFill>
              <a:srgbClr val="DDD9CF"/>
            </a:solidFill>
            <a:prstDash val="solid"/>
          </a:ln>
        </p:spPr>
        <p:txBody>
          <a:bodyPr/>
          <a:lstStyle/>
          <a:p>
            <a:endParaRPr lang="es-AR"/>
          </a:p>
        </p:txBody>
      </p:sp>
      <p:sp>
        <p:nvSpPr>
          <p:cNvPr id="5" name="Text 3"/>
          <p:cNvSpPr/>
          <p:nvPr/>
        </p:nvSpPr>
        <p:spPr>
          <a:xfrm>
            <a:off x="1047750" y="2492871"/>
            <a:ext cx="4866132"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Rubik" pitchFamily="34" charset="0"/>
                <a:ea typeface="Rubik" pitchFamily="34" charset="-122"/>
                <a:cs typeface="Rubik" pitchFamily="34" charset="-120"/>
              </a:rPr>
              <a:t>Comprador o vendedor</a:t>
            </a:r>
            <a:endParaRPr lang="en-US" sz="1700" dirty="0"/>
          </a:p>
        </p:txBody>
      </p:sp>
      <p:sp>
        <p:nvSpPr>
          <p:cNvPr id="6" name="Text 4"/>
          <p:cNvSpPr/>
          <p:nvPr/>
        </p:nvSpPr>
        <p:spPr>
          <a:xfrm>
            <a:off x="1047750" y="2828131"/>
            <a:ext cx="4866132" cy="523081"/>
          </a:xfrm>
          <a:prstGeom prst="rect">
            <a:avLst/>
          </a:prstGeom>
          <a:noFill/>
          <a:ln/>
        </p:spPr>
        <p:txBody>
          <a:bodyPr wrap="square" lIns="0" tIns="0" rIns="0" bIns="0" rtlCol="0" anchor="t">
            <a:normAutofit fontScale="85000" lnSpcReduction="10000"/>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Comparar el precio publicado de un departamento contra lo que estima el modelo para sus mismas características, antes de negociar.</a:t>
            </a:r>
            <a:endParaRPr lang="en-US" sz="1400" dirty="0"/>
          </a:p>
        </p:txBody>
      </p:sp>
      <p:sp>
        <p:nvSpPr>
          <p:cNvPr id="7" name="Shape 5"/>
          <p:cNvSpPr/>
          <p:nvPr/>
        </p:nvSpPr>
        <p:spPr>
          <a:xfrm>
            <a:off x="6188075" y="2261096"/>
            <a:ext cx="5187950" cy="1296491"/>
          </a:xfrm>
          <a:prstGeom prst="roundRect">
            <a:avLst>
              <a:gd name="adj" fmla="val 7592"/>
            </a:avLst>
          </a:prstGeom>
          <a:solidFill>
            <a:srgbClr val="FFFFFF"/>
          </a:solidFill>
          <a:ln w="6350">
            <a:solidFill>
              <a:srgbClr val="DDD9CF"/>
            </a:solidFill>
            <a:prstDash val="solid"/>
          </a:ln>
        </p:spPr>
        <p:txBody>
          <a:bodyPr/>
          <a:lstStyle/>
          <a:p>
            <a:endParaRPr lang="es-AR"/>
          </a:p>
        </p:txBody>
      </p:sp>
      <p:sp>
        <p:nvSpPr>
          <p:cNvPr id="8" name="Text 6"/>
          <p:cNvSpPr/>
          <p:nvPr/>
        </p:nvSpPr>
        <p:spPr>
          <a:xfrm>
            <a:off x="6419850" y="2492871"/>
            <a:ext cx="4866132"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Rubik" pitchFamily="34" charset="0"/>
                <a:ea typeface="Rubik" pitchFamily="34" charset="-122"/>
                <a:cs typeface="Rubik" pitchFamily="34" charset="-120"/>
              </a:rPr>
              <a:t>Oportunidades de compra</a:t>
            </a:r>
            <a:endParaRPr lang="en-US" sz="1700" dirty="0"/>
          </a:p>
        </p:txBody>
      </p:sp>
      <p:sp>
        <p:nvSpPr>
          <p:cNvPr id="9" name="Text 7"/>
          <p:cNvSpPr/>
          <p:nvPr/>
        </p:nvSpPr>
        <p:spPr>
          <a:xfrm>
            <a:off x="6419850" y="2828131"/>
            <a:ext cx="4866132" cy="523081"/>
          </a:xfrm>
          <a:prstGeom prst="rect">
            <a:avLst/>
          </a:prstGeom>
          <a:noFill/>
          <a:ln/>
        </p:spPr>
        <p:txBody>
          <a:bodyPr wrap="square" lIns="0" tIns="0" rIns="0" bIns="0" rtlCol="0" anchor="t">
            <a:normAutofit fontScale="92500"/>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Ordenar los avisos vigentes por la brecha entre precio publicado y precio estimado, para priorizar cuáles visitar primero.</a:t>
            </a:r>
            <a:endParaRPr lang="en-US" sz="1400" dirty="0"/>
          </a:p>
        </p:txBody>
      </p:sp>
      <p:sp>
        <p:nvSpPr>
          <p:cNvPr id="10" name="Shape 8"/>
          <p:cNvSpPr/>
          <p:nvPr/>
        </p:nvSpPr>
        <p:spPr>
          <a:xfrm>
            <a:off x="815975" y="3741738"/>
            <a:ext cx="5187950" cy="1296491"/>
          </a:xfrm>
          <a:prstGeom prst="roundRect">
            <a:avLst>
              <a:gd name="adj" fmla="val 7592"/>
            </a:avLst>
          </a:prstGeom>
          <a:solidFill>
            <a:srgbClr val="FFFFFF"/>
          </a:solidFill>
          <a:ln w="6350">
            <a:solidFill>
              <a:srgbClr val="DDD9CF"/>
            </a:solidFill>
            <a:prstDash val="solid"/>
          </a:ln>
        </p:spPr>
        <p:txBody>
          <a:bodyPr/>
          <a:lstStyle/>
          <a:p>
            <a:endParaRPr lang="es-AR"/>
          </a:p>
        </p:txBody>
      </p:sp>
      <p:sp>
        <p:nvSpPr>
          <p:cNvPr id="11" name="Text 9"/>
          <p:cNvSpPr/>
          <p:nvPr/>
        </p:nvSpPr>
        <p:spPr>
          <a:xfrm>
            <a:off x="1047750" y="3973512"/>
            <a:ext cx="4866132"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Rubik" pitchFamily="34" charset="0"/>
                <a:ea typeface="Rubik" pitchFamily="34" charset="-122"/>
                <a:cs typeface="Rubik" pitchFamily="34" charset="-120"/>
              </a:rPr>
              <a:t>Tasación de referencia</a:t>
            </a:r>
            <a:endParaRPr lang="en-US" sz="1700" dirty="0"/>
          </a:p>
        </p:txBody>
      </p:sp>
      <p:sp>
        <p:nvSpPr>
          <p:cNvPr id="12" name="Text 10"/>
          <p:cNvSpPr/>
          <p:nvPr/>
        </p:nvSpPr>
        <p:spPr>
          <a:xfrm>
            <a:off x="1047750" y="4308773"/>
            <a:ext cx="4866132" cy="523081"/>
          </a:xfrm>
          <a:prstGeom prst="rect">
            <a:avLst/>
          </a:prstGeom>
          <a:noFill/>
          <a:ln/>
        </p:spPr>
        <p:txBody>
          <a:bodyPr wrap="square" lIns="0" tIns="0" rIns="0" bIns="0" rtlCol="0" anchor="t">
            <a:normAutofit fontScale="85000" lnSpcReduction="10000"/>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Un benchmark objetivo de USD/m² por barrio que una inmobiliaria puede usar para fijar o justificar un precio de publicación.</a:t>
            </a:r>
            <a:endParaRPr lang="en-US" sz="1400" dirty="0"/>
          </a:p>
        </p:txBody>
      </p:sp>
      <p:sp>
        <p:nvSpPr>
          <p:cNvPr id="13" name="Shape 11"/>
          <p:cNvSpPr/>
          <p:nvPr/>
        </p:nvSpPr>
        <p:spPr>
          <a:xfrm>
            <a:off x="6188075" y="3741738"/>
            <a:ext cx="5187950" cy="1296491"/>
          </a:xfrm>
          <a:prstGeom prst="roundRect">
            <a:avLst>
              <a:gd name="adj" fmla="val 7592"/>
            </a:avLst>
          </a:prstGeom>
          <a:solidFill>
            <a:srgbClr val="FFFFFF"/>
          </a:solidFill>
          <a:ln w="6350">
            <a:solidFill>
              <a:srgbClr val="DDD9CF"/>
            </a:solidFill>
            <a:prstDash val="solid"/>
          </a:ln>
        </p:spPr>
        <p:txBody>
          <a:bodyPr/>
          <a:lstStyle/>
          <a:p>
            <a:endParaRPr lang="es-AR"/>
          </a:p>
        </p:txBody>
      </p:sp>
      <p:sp>
        <p:nvSpPr>
          <p:cNvPr id="14" name="Text 12"/>
          <p:cNvSpPr/>
          <p:nvPr/>
        </p:nvSpPr>
        <p:spPr>
          <a:xfrm>
            <a:off x="6419850" y="3973512"/>
            <a:ext cx="4866132"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Rubik" pitchFamily="34" charset="0"/>
                <a:ea typeface="Rubik" pitchFamily="34" charset="-122"/>
                <a:cs typeface="Rubik" pitchFamily="34" charset="-120"/>
              </a:rPr>
              <a:t>Monitoreo del mercado</a:t>
            </a:r>
            <a:endParaRPr lang="en-US" sz="1700" dirty="0"/>
          </a:p>
        </p:txBody>
      </p:sp>
      <p:sp>
        <p:nvSpPr>
          <p:cNvPr id="15" name="Text 13"/>
          <p:cNvSpPr/>
          <p:nvPr/>
        </p:nvSpPr>
        <p:spPr>
          <a:xfrm>
            <a:off x="6419850" y="4308773"/>
            <a:ext cx="486613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Repitiendo el scraping y reentrenando, seguir la evolución del USD/m² por barrio sin depender de reportes de terceros.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B4470A"/>
                </a:solidFill>
                <a:latin typeface="IBM Plex Sans" pitchFamily="34" charset="0"/>
                <a:ea typeface="IBM Plex Sans" pitchFamily="34" charset="-122"/>
                <a:cs typeface="IBM Plex Sans" pitchFamily="34" charset="-120"/>
              </a:rPr>
              <a:t>2 · ARQUITECTURA</a:t>
            </a:r>
            <a:endParaRPr lang="en-US" sz="1300" dirty="0"/>
          </a:p>
        </p:txBody>
      </p:sp>
      <p:sp>
        <p:nvSpPr>
          <p:cNvPr id="3" name="Text 1"/>
          <p:cNvSpPr>
            <a:spLocks noGrp="1"/>
          </p:cNvSpPr>
          <p:nvPr>
            <p:ph type="title"/>
          </p:nvPr>
        </p:nvSpPr>
        <p:spPr>
          <a:xfrm>
            <a:off x="812800" y="14502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Cuatro piezas, una sola máquina</a:t>
            </a:r>
            <a:endParaRPr lang="en-US" sz="3600" dirty="0"/>
          </a:p>
        </p:txBody>
      </p:sp>
      <p:sp>
        <p:nvSpPr>
          <p:cNvPr id="4" name="Shape 2"/>
          <p:cNvSpPr/>
          <p:nvPr/>
        </p:nvSpPr>
        <p:spPr>
          <a:xfrm>
            <a:off x="812800" y="2359521"/>
            <a:ext cx="2174875" cy="2044402"/>
          </a:xfrm>
          <a:prstGeom prst="roundRect">
            <a:avLst>
              <a:gd name="adj" fmla="val 4970"/>
            </a:avLst>
          </a:prstGeom>
          <a:solidFill>
            <a:srgbClr val="14213D"/>
          </a:solidFill>
          <a:ln/>
        </p:spPr>
      </p:sp>
      <p:sp>
        <p:nvSpPr>
          <p:cNvPr id="5" name="Text 3"/>
          <p:cNvSpPr/>
          <p:nvPr/>
        </p:nvSpPr>
        <p:spPr>
          <a:xfrm>
            <a:off x="1041400" y="2588121"/>
            <a:ext cx="176920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4A261"/>
                </a:solidFill>
                <a:latin typeface="IBM Plex Sans" pitchFamily="34" charset="0"/>
                <a:ea typeface="IBM Plex Sans" pitchFamily="34" charset="-122"/>
                <a:cs typeface="IBM Plex Sans" pitchFamily="34" charset="-120"/>
              </a:rPr>
              <a:t>Adquisición</a:t>
            </a:r>
            <a:endParaRPr lang="en-US" sz="1200" dirty="0"/>
          </a:p>
        </p:txBody>
      </p:sp>
      <p:sp>
        <p:nvSpPr>
          <p:cNvPr id="6" name="Text 4"/>
          <p:cNvSpPr/>
          <p:nvPr/>
        </p:nvSpPr>
        <p:spPr>
          <a:xfrm>
            <a:off x="1041400" y="2890341"/>
            <a:ext cx="176920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7F6F2"/>
                </a:solidFill>
                <a:latin typeface="Rubik" pitchFamily="34" charset="0"/>
                <a:ea typeface="Rubik" pitchFamily="34" charset="-122"/>
                <a:cs typeface="Rubik" pitchFamily="34" charset="-120"/>
              </a:rPr>
              <a:t>Crawler</a:t>
            </a:r>
            <a:endParaRPr lang="en-US" sz="1700" dirty="0"/>
          </a:p>
        </p:txBody>
      </p:sp>
      <p:sp>
        <p:nvSpPr>
          <p:cNvPr id="7" name="Text 5"/>
          <p:cNvSpPr/>
          <p:nvPr/>
        </p:nvSpPr>
        <p:spPr>
          <a:xfrm>
            <a:off x="1041400" y="3238302"/>
            <a:ext cx="1769205"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6"/>
                </a:solidFill>
                <a:latin typeface="IBM Plex Sans" pitchFamily="34" charset="0"/>
                <a:ea typeface="IBM Plex Sans" pitchFamily="34" charset="-122"/>
                <a:cs typeface="IBM Plex Sans" pitchFamily="34" charset="-120"/>
              </a:rPr>
              <a:t>Node.js + Puppeteer sobre Chrome real; parsers con Cheerio</a:t>
            </a:r>
            <a:endParaRPr lang="en-US" sz="1300" dirty="0"/>
          </a:p>
        </p:txBody>
      </p:sp>
      <p:pic>
        <p:nvPicPr>
          <p:cNvPr id="8" name="Image 0" descr="connector"/>
          <p:cNvPicPr>
            <a:picLocks noChangeAspect="1"/>
          </p:cNvPicPr>
          <p:nvPr/>
        </p:nvPicPr>
        <p:blipFill>
          <a:blip r:embed="rId3"/>
          <a:srcRect/>
          <a:stretch/>
        </p:blipFill>
        <p:spPr>
          <a:xfrm>
            <a:off x="3114675" y="3318173"/>
            <a:ext cx="355600" cy="127000"/>
          </a:xfrm>
          <a:prstGeom prst="rect">
            <a:avLst/>
          </a:prstGeom>
        </p:spPr>
      </p:pic>
      <p:sp>
        <p:nvSpPr>
          <p:cNvPr id="9" name="Shape 6"/>
          <p:cNvSpPr/>
          <p:nvPr/>
        </p:nvSpPr>
        <p:spPr>
          <a:xfrm>
            <a:off x="3600450" y="2362696"/>
            <a:ext cx="2181225" cy="2038052"/>
          </a:xfrm>
          <a:prstGeom prst="roundRect">
            <a:avLst>
              <a:gd name="adj" fmla="val 4829"/>
            </a:avLst>
          </a:prstGeom>
          <a:solidFill>
            <a:srgbClr val="FFFFFF"/>
          </a:solidFill>
          <a:ln w="6350">
            <a:solidFill>
              <a:srgbClr val="DDD9CF"/>
            </a:solidFill>
            <a:prstDash val="solid"/>
          </a:ln>
        </p:spPr>
      </p:sp>
      <p:sp>
        <p:nvSpPr>
          <p:cNvPr id="10" name="Text 7"/>
          <p:cNvSpPr/>
          <p:nvPr/>
        </p:nvSpPr>
        <p:spPr>
          <a:xfrm>
            <a:off x="3832225" y="2594471"/>
            <a:ext cx="176920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470A"/>
                </a:solidFill>
                <a:latin typeface="IBM Plex Sans" pitchFamily="34" charset="0"/>
                <a:ea typeface="IBM Plex Sans" pitchFamily="34" charset="-122"/>
                <a:cs typeface="IBM Plex Sans" pitchFamily="34" charset="-120"/>
              </a:rPr>
              <a:t>Almacenamiento</a:t>
            </a:r>
            <a:endParaRPr lang="en-US" sz="1200" dirty="0"/>
          </a:p>
        </p:txBody>
      </p:sp>
      <p:sp>
        <p:nvSpPr>
          <p:cNvPr id="11" name="Text 8"/>
          <p:cNvSpPr/>
          <p:nvPr/>
        </p:nvSpPr>
        <p:spPr>
          <a:xfrm>
            <a:off x="3832225" y="2896691"/>
            <a:ext cx="176920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Rubik" pitchFamily="34" charset="0"/>
                <a:ea typeface="Rubik" pitchFamily="34" charset="-122"/>
                <a:cs typeface="Rubik" pitchFamily="34" charset="-120"/>
              </a:rPr>
              <a:t>JSONL</a:t>
            </a:r>
            <a:endParaRPr lang="en-US" sz="1700" dirty="0"/>
          </a:p>
        </p:txBody>
      </p:sp>
      <p:sp>
        <p:nvSpPr>
          <p:cNvPr id="12" name="Text 9"/>
          <p:cNvSpPr/>
          <p:nvPr/>
        </p:nvSpPr>
        <p:spPr>
          <a:xfrm>
            <a:off x="3832225" y="3244652"/>
            <a:ext cx="1769205" cy="94972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Un aviso por línea, escrito al leerlo; frontier.json guarda el avance</a:t>
            </a:r>
            <a:endParaRPr lang="en-US" sz="1300" dirty="0"/>
          </a:p>
        </p:txBody>
      </p:sp>
      <p:pic>
        <p:nvPicPr>
          <p:cNvPr id="13" name="Image 1" descr="connector"/>
          <p:cNvPicPr>
            <a:picLocks noChangeAspect="1"/>
          </p:cNvPicPr>
          <p:nvPr/>
        </p:nvPicPr>
        <p:blipFill>
          <a:blip r:embed="rId3"/>
          <a:srcRect/>
          <a:stretch/>
        </p:blipFill>
        <p:spPr>
          <a:xfrm>
            <a:off x="5911850" y="3318173"/>
            <a:ext cx="355600" cy="127000"/>
          </a:xfrm>
          <a:prstGeom prst="rect">
            <a:avLst/>
          </a:prstGeom>
        </p:spPr>
      </p:pic>
      <p:sp>
        <p:nvSpPr>
          <p:cNvPr id="14" name="Shape 10"/>
          <p:cNvSpPr/>
          <p:nvPr/>
        </p:nvSpPr>
        <p:spPr>
          <a:xfrm>
            <a:off x="6397625" y="2362696"/>
            <a:ext cx="2181225" cy="2038052"/>
          </a:xfrm>
          <a:prstGeom prst="roundRect">
            <a:avLst>
              <a:gd name="adj" fmla="val 4829"/>
            </a:avLst>
          </a:prstGeom>
          <a:solidFill>
            <a:srgbClr val="FFFFFF"/>
          </a:solidFill>
          <a:ln w="6350">
            <a:solidFill>
              <a:srgbClr val="DDD9CF"/>
            </a:solidFill>
            <a:prstDash val="solid"/>
          </a:ln>
        </p:spPr>
      </p:sp>
      <p:sp>
        <p:nvSpPr>
          <p:cNvPr id="15" name="Text 11"/>
          <p:cNvSpPr/>
          <p:nvPr/>
        </p:nvSpPr>
        <p:spPr>
          <a:xfrm>
            <a:off x="6629400" y="2594471"/>
            <a:ext cx="176920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470A"/>
                </a:solidFill>
                <a:latin typeface="IBM Plex Sans" pitchFamily="34" charset="0"/>
                <a:ea typeface="IBM Plex Sans" pitchFamily="34" charset="-122"/>
                <a:cs typeface="IBM Plex Sans" pitchFamily="34" charset="-120"/>
              </a:rPr>
              <a:t>Análisis</a:t>
            </a:r>
            <a:endParaRPr lang="en-US" sz="1200" dirty="0"/>
          </a:p>
        </p:txBody>
      </p:sp>
      <p:sp>
        <p:nvSpPr>
          <p:cNvPr id="16" name="Text 12"/>
          <p:cNvSpPr/>
          <p:nvPr/>
        </p:nvSpPr>
        <p:spPr>
          <a:xfrm>
            <a:off x="6629400" y="2896691"/>
            <a:ext cx="176920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Rubik" pitchFamily="34" charset="0"/>
                <a:ea typeface="Rubik" pitchFamily="34" charset="-122"/>
                <a:cs typeface="Rubik" pitchFamily="34" charset="-120"/>
              </a:rPr>
              <a:t>Python</a:t>
            </a:r>
            <a:endParaRPr lang="en-US" sz="1700" dirty="0"/>
          </a:p>
        </p:txBody>
      </p:sp>
      <p:sp>
        <p:nvSpPr>
          <p:cNvPr id="17" name="Text 13"/>
          <p:cNvSpPr/>
          <p:nvPr/>
        </p:nvSpPr>
        <p:spPr>
          <a:xfrm>
            <a:off x="6629400" y="3244652"/>
            <a:ext cx="1769205"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pandas, scikit-learn, LightGBM: calidad de datos y modelos</a:t>
            </a:r>
            <a:endParaRPr lang="en-US" sz="1300" dirty="0"/>
          </a:p>
        </p:txBody>
      </p:sp>
      <p:pic>
        <p:nvPicPr>
          <p:cNvPr id="18" name="Image 2" descr="connector"/>
          <p:cNvPicPr>
            <a:picLocks noChangeAspect="1"/>
          </p:cNvPicPr>
          <p:nvPr/>
        </p:nvPicPr>
        <p:blipFill>
          <a:blip r:embed="rId3"/>
          <a:srcRect/>
          <a:stretch/>
        </p:blipFill>
        <p:spPr>
          <a:xfrm>
            <a:off x="8709025" y="3318173"/>
            <a:ext cx="355600" cy="127000"/>
          </a:xfrm>
          <a:prstGeom prst="rect">
            <a:avLst/>
          </a:prstGeom>
        </p:spPr>
      </p:pic>
      <p:sp>
        <p:nvSpPr>
          <p:cNvPr id="19" name="Shape 14"/>
          <p:cNvSpPr/>
          <p:nvPr/>
        </p:nvSpPr>
        <p:spPr>
          <a:xfrm>
            <a:off x="9194800" y="2362696"/>
            <a:ext cx="2181225" cy="2038052"/>
          </a:xfrm>
          <a:prstGeom prst="roundRect">
            <a:avLst>
              <a:gd name="adj" fmla="val 4829"/>
            </a:avLst>
          </a:prstGeom>
          <a:solidFill>
            <a:srgbClr val="FFFFFF"/>
          </a:solidFill>
          <a:ln w="6350">
            <a:solidFill>
              <a:srgbClr val="DDD9CF"/>
            </a:solidFill>
            <a:prstDash val="solid"/>
          </a:ln>
        </p:spPr>
      </p:sp>
      <p:sp>
        <p:nvSpPr>
          <p:cNvPr id="20" name="Text 15"/>
          <p:cNvSpPr/>
          <p:nvPr/>
        </p:nvSpPr>
        <p:spPr>
          <a:xfrm>
            <a:off x="9426575" y="2594471"/>
            <a:ext cx="176920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470A"/>
                </a:solidFill>
                <a:latin typeface="IBM Plex Sans" pitchFamily="34" charset="0"/>
                <a:ea typeface="IBM Plex Sans" pitchFamily="34" charset="-122"/>
                <a:cs typeface="IBM Plex Sans" pitchFamily="34" charset="-120"/>
              </a:rPr>
              <a:t>Uso</a:t>
            </a:r>
            <a:endParaRPr lang="en-US" sz="1200" dirty="0"/>
          </a:p>
        </p:txBody>
      </p:sp>
      <p:sp>
        <p:nvSpPr>
          <p:cNvPr id="21" name="Text 16"/>
          <p:cNvSpPr/>
          <p:nvPr/>
        </p:nvSpPr>
        <p:spPr>
          <a:xfrm>
            <a:off x="9426575" y="2896691"/>
            <a:ext cx="176920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Rubik" pitchFamily="34" charset="0"/>
                <a:ea typeface="Rubik" pitchFamily="34" charset="-122"/>
                <a:cs typeface="Rubik" pitchFamily="34" charset="-120"/>
              </a:rPr>
              <a:t>Interfaz local</a:t>
            </a:r>
            <a:endParaRPr lang="en-US" sz="1700" dirty="0"/>
          </a:p>
        </p:txBody>
      </p:sp>
      <p:sp>
        <p:nvSpPr>
          <p:cNvPr id="22" name="Text 17"/>
          <p:cNvSpPr/>
          <p:nvPr/>
        </p:nvSpPr>
        <p:spPr>
          <a:xfrm>
            <a:off x="9426575" y="3244652"/>
            <a:ext cx="1769205"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Tres pantallas: Scraper, Calidad de datos y Modelos</a:t>
            </a:r>
            <a:endParaRPr lang="en-US" sz="1300" dirty="0"/>
          </a:p>
        </p:txBody>
      </p:sp>
      <p:sp>
        <p:nvSpPr>
          <p:cNvPr id="23" name="Text 18"/>
          <p:cNvSpPr/>
          <p:nvPr/>
        </p:nvSpPr>
        <p:spPr>
          <a:xfrm>
            <a:off x="812800" y="4810323"/>
            <a:ext cx="981075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El servidor Node lanza el crawler y, como proceso hijo, los análisis en Python; cada corrida queda guardada con sus parámetros, métricas y gráficos.</a:t>
            </a:r>
            <a:endParaRPr lang="en-US" sz="1400" dirty="0"/>
          </a:p>
        </p:txBody>
      </p:sp>
      <p:sp>
        <p:nvSpPr>
          <p:cNvPr id="24" name="Text 19"/>
          <p:cNvSpPr/>
          <p:nvPr/>
        </p:nvSpPr>
        <p:spPr>
          <a:xfrm>
            <a:off x="812800" y="6238280"/>
            <a:ext cx="467058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src/crawler.js · src/parse/ · ml/run.py · ml/calidad.py · ui/</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B4470A"/>
                </a:solidFill>
                <a:latin typeface="IBM Plex Sans" pitchFamily="34" charset="0"/>
                <a:ea typeface="IBM Plex Sans" pitchFamily="34" charset="-122"/>
                <a:cs typeface="IBM Plex Sans" pitchFamily="34" charset="-120"/>
              </a:rPr>
              <a:t>3 · WEB SCRAPER</a:t>
            </a:r>
            <a:endParaRPr lang="en-US" sz="1300" dirty="0"/>
          </a:p>
        </p:txBody>
      </p:sp>
      <p:sp>
        <p:nvSpPr>
          <p:cNvPr id="3" name="Text 1"/>
          <p:cNvSpPr>
            <a:spLocks noGrp="1"/>
          </p:cNvSpPr>
          <p:nvPr>
            <p:ph type="title"/>
          </p:nvPr>
        </p:nvSpPr>
        <p:spPr>
          <a:xfrm>
            <a:off x="812800" y="12978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Recorrer los listados como una persona</a:t>
            </a:r>
            <a:endParaRPr lang="en-US" sz="3600" dirty="0"/>
          </a:p>
        </p:txBody>
      </p:sp>
      <p:sp>
        <p:nvSpPr>
          <p:cNvPr id="4" name="Text 2"/>
          <p:cNvSpPr/>
          <p:nvPr/>
        </p:nvSpPr>
        <p:spPr>
          <a:xfrm>
            <a:off x="812800" y="2054721"/>
            <a:ext cx="222377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4213D"/>
                </a:solidFill>
                <a:latin typeface="Rubik" pitchFamily="34" charset="0"/>
                <a:ea typeface="Rubik" pitchFamily="34" charset="-122"/>
                <a:cs typeface="Rubik" pitchFamily="34" charset="-120"/>
              </a:rPr>
              <a:t>105.413</a:t>
            </a:r>
            <a:endParaRPr lang="en-US" sz="3600" dirty="0"/>
          </a:p>
        </p:txBody>
      </p:sp>
      <p:sp>
        <p:nvSpPr>
          <p:cNvPr id="5" name="Text 3"/>
          <p:cNvSpPr/>
          <p:nvPr/>
        </p:nvSpPr>
        <p:spPr>
          <a:xfrm>
            <a:off x="812800" y="2550021"/>
            <a:ext cx="22237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avisos de CABA guardados</a:t>
            </a:r>
            <a:endParaRPr lang="en-US" sz="1200" dirty="0"/>
          </a:p>
        </p:txBody>
      </p:sp>
      <p:sp>
        <p:nvSpPr>
          <p:cNvPr id="6" name="Text 4"/>
          <p:cNvSpPr/>
          <p:nvPr/>
        </p:nvSpPr>
        <p:spPr>
          <a:xfrm>
            <a:off x="3225800" y="2054721"/>
            <a:ext cx="222377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B4470A"/>
                </a:solidFill>
                <a:latin typeface="Rubik" pitchFamily="34" charset="0"/>
                <a:ea typeface="Rubik" pitchFamily="34" charset="-122"/>
                <a:cs typeface="Rubik" pitchFamily="34" charset="-120"/>
              </a:rPr>
              <a:t>≈ 8 h</a:t>
            </a:r>
            <a:endParaRPr lang="en-US" sz="3600" dirty="0"/>
          </a:p>
        </p:txBody>
      </p:sp>
      <p:sp>
        <p:nvSpPr>
          <p:cNvPr id="8" name="Text 6"/>
          <p:cNvSpPr/>
          <p:nvPr/>
        </p:nvSpPr>
        <p:spPr>
          <a:xfrm>
            <a:off x="812800" y="3179862"/>
            <a:ext cx="254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470A"/>
                </a:solidFill>
                <a:latin typeface="IBM Plex Sans" pitchFamily="34" charset="0"/>
                <a:ea typeface="IBM Plex Sans" pitchFamily="34" charset="-122"/>
                <a:cs typeface="IBM Plex Sans" pitchFamily="34" charset="-120"/>
              </a:rPr>
              <a:t>1</a:t>
            </a:r>
            <a:endParaRPr lang="en-US" sz="1300" dirty="0"/>
          </a:p>
        </p:txBody>
      </p:sp>
      <p:sp>
        <p:nvSpPr>
          <p:cNvPr id="9" name="Text 7"/>
          <p:cNvSpPr/>
          <p:nvPr/>
        </p:nvSpPr>
        <p:spPr>
          <a:xfrm>
            <a:off x="1117600" y="3179862"/>
            <a:ext cx="4395216" cy="471091"/>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14213D"/>
                </a:solidFill>
                <a:latin typeface="IBM Plex Sans" pitchFamily="34" charset="0"/>
                <a:ea typeface="IBM Plex Sans" pitchFamily="34" charset="-122"/>
                <a:cs typeface="IBM Plex Sans" pitchFamily="34" charset="-120"/>
              </a:rPr>
              <a:t>Búsquedas</a:t>
            </a:r>
            <a:r>
              <a:rPr lang="en-US" sz="1300" dirty="0">
                <a:solidFill>
                  <a:srgbClr val="14213D"/>
                </a:solidFill>
                <a:latin typeface="IBM Plex Sans" pitchFamily="34" charset="0"/>
                <a:ea typeface="IBM Plex Sans" pitchFamily="34" charset="-122"/>
                <a:cs typeface="IBM Plex Sans" pitchFamily="34" charset="-120"/>
              </a:rPr>
              <a:t> por operación × tipo × zona; 30 avisos por página.</a:t>
            </a:r>
            <a:endParaRPr lang="en-US" sz="1300" dirty="0"/>
          </a:p>
        </p:txBody>
      </p:sp>
      <p:sp>
        <p:nvSpPr>
          <p:cNvPr id="10" name="Text 8"/>
          <p:cNvSpPr/>
          <p:nvPr/>
        </p:nvSpPr>
        <p:spPr>
          <a:xfrm>
            <a:off x="812800" y="3727152"/>
            <a:ext cx="254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470A"/>
                </a:solidFill>
                <a:latin typeface="IBM Plex Sans" pitchFamily="34" charset="0"/>
                <a:ea typeface="IBM Plex Sans" pitchFamily="34" charset="-122"/>
                <a:cs typeface="IBM Plex Sans" pitchFamily="34" charset="-120"/>
              </a:rPr>
              <a:t>2</a:t>
            </a:r>
            <a:endParaRPr lang="en-US" sz="1300" dirty="0"/>
          </a:p>
        </p:txBody>
      </p:sp>
      <p:sp>
        <p:nvSpPr>
          <p:cNvPr id="11" name="Text 9"/>
          <p:cNvSpPr/>
          <p:nvPr/>
        </p:nvSpPr>
        <p:spPr>
          <a:xfrm>
            <a:off x="1117600" y="3727152"/>
            <a:ext cx="4395216" cy="471091"/>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14213D"/>
                </a:solidFill>
                <a:latin typeface="IBM Plex Sans" pitchFamily="34" charset="0"/>
                <a:ea typeface="IBM Plex Sans" pitchFamily="34" charset="-122"/>
                <a:cs typeface="IBM Plex Sans" pitchFamily="34" charset="-120"/>
              </a:rPr>
              <a:t>Parseo</a:t>
            </a:r>
            <a:r>
              <a:rPr lang="en-US" sz="1300" dirty="0">
                <a:solidFill>
                  <a:srgbClr val="14213D"/>
                </a:solidFill>
                <a:latin typeface="IBM Plex Sans" pitchFamily="34" charset="0"/>
                <a:ea typeface="IBM Plex Sans" pitchFamily="34" charset="-122"/>
                <a:cs typeface="IBM Plex Sans" pitchFamily="34" charset="-120"/>
              </a:rPr>
              <a:t> de cada tarjeta: precio, moneda, m², ambientes, expensas, ubicación, inmobiliaria.</a:t>
            </a:r>
            <a:endParaRPr lang="en-US" sz="1300" dirty="0"/>
          </a:p>
        </p:txBody>
      </p:sp>
      <p:sp>
        <p:nvSpPr>
          <p:cNvPr id="12" name="Text 10"/>
          <p:cNvSpPr/>
          <p:nvPr/>
        </p:nvSpPr>
        <p:spPr>
          <a:xfrm>
            <a:off x="812800" y="4274443"/>
            <a:ext cx="254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470A"/>
                </a:solidFill>
                <a:latin typeface="IBM Plex Sans" pitchFamily="34" charset="0"/>
                <a:ea typeface="IBM Plex Sans" pitchFamily="34" charset="-122"/>
                <a:cs typeface="IBM Plex Sans" pitchFamily="34" charset="-120"/>
              </a:rPr>
              <a:t>3</a:t>
            </a:r>
            <a:endParaRPr lang="en-US" sz="1300" dirty="0"/>
          </a:p>
        </p:txBody>
      </p:sp>
      <p:sp>
        <p:nvSpPr>
          <p:cNvPr id="13" name="Text 11"/>
          <p:cNvSpPr/>
          <p:nvPr/>
        </p:nvSpPr>
        <p:spPr>
          <a:xfrm>
            <a:off x="1117600" y="4274443"/>
            <a:ext cx="4395216" cy="471091"/>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14213D"/>
                </a:solidFill>
                <a:latin typeface="IBM Plex Sans" pitchFamily="34" charset="0"/>
                <a:ea typeface="IBM Plex Sans" pitchFamily="34" charset="-122"/>
                <a:cs typeface="IBM Plex Sans" pitchFamily="34" charset="-120"/>
              </a:rPr>
              <a:t>Guardado incremental</a:t>
            </a:r>
            <a:r>
              <a:rPr lang="en-US" sz="1300" dirty="0">
                <a:solidFill>
                  <a:srgbClr val="14213D"/>
                </a:solidFill>
                <a:latin typeface="IBM Plex Sans" pitchFamily="34" charset="0"/>
                <a:ea typeface="IBM Plex Sans" pitchFamily="34" charset="-122"/>
                <a:cs typeface="IBM Plex Sans" pitchFamily="34" charset="-120"/>
              </a:rPr>
              <a:t> con dedupe por id e historial de cambios de precio.</a:t>
            </a:r>
            <a:endParaRPr lang="en-US" sz="1300" dirty="0"/>
          </a:p>
        </p:txBody>
      </p:sp>
      <p:sp>
        <p:nvSpPr>
          <p:cNvPr id="14" name="Text 12"/>
          <p:cNvSpPr/>
          <p:nvPr/>
        </p:nvSpPr>
        <p:spPr>
          <a:xfrm>
            <a:off x="812800" y="4821734"/>
            <a:ext cx="254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470A"/>
                </a:solidFill>
                <a:latin typeface="IBM Plex Sans" pitchFamily="34" charset="0"/>
                <a:ea typeface="IBM Plex Sans" pitchFamily="34" charset="-122"/>
                <a:cs typeface="IBM Plex Sans" pitchFamily="34" charset="-120"/>
              </a:rPr>
              <a:t>4</a:t>
            </a:r>
            <a:endParaRPr lang="en-US" sz="1300" dirty="0"/>
          </a:p>
        </p:txBody>
      </p:sp>
      <p:sp>
        <p:nvSpPr>
          <p:cNvPr id="15" name="Text 13"/>
          <p:cNvSpPr/>
          <p:nvPr/>
        </p:nvSpPr>
        <p:spPr>
          <a:xfrm>
            <a:off x="1117600" y="4821734"/>
            <a:ext cx="4395216" cy="471091"/>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14213D"/>
                </a:solidFill>
                <a:latin typeface="IBM Plex Sans" pitchFamily="34" charset="0"/>
                <a:ea typeface="IBM Plex Sans" pitchFamily="34" charset="-122"/>
                <a:cs typeface="IBM Plex Sans" pitchFamily="34" charset="-120"/>
              </a:rPr>
              <a:t>Ritmo humano</a:t>
            </a:r>
            <a:r>
              <a:rPr lang="en-US" sz="1300" dirty="0">
                <a:solidFill>
                  <a:srgbClr val="14213D"/>
                </a:solidFill>
                <a:latin typeface="IBM Plex Sans" pitchFamily="34" charset="0"/>
                <a:ea typeface="IBM Plex Sans" pitchFamily="34" charset="-122"/>
                <a:cs typeface="IBM Plex Sans" pitchFamily="34" charset="-120"/>
              </a:rPr>
              <a:t>: una página cada ~5 s, pausas al azar, un solo navegador.</a:t>
            </a:r>
            <a:endParaRPr lang="en-US" sz="1300" dirty="0"/>
          </a:p>
        </p:txBody>
      </p:sp>
      <p:sp>
        <p:nvSpPr>
          <p:cNvPr id="16" name="Shape 14"/>
          <p:cNvSpPr/>
          <p:nvPr/>
        </p:nvSpPr>
        <p:spPr>
          <a:xfrm>
            <a:off x="5692775" y="2057896"/>
            <a:ext cx="5683250" cy="3194050"/>
          </a:xfrm>
          <a:prstGeom prst="roundRect">
            <a:avLst>
              <a:gd name="adj" fmla="val 3082"/>
            </a:avLst>
          </a:prstGeom>
          <a:solidFill>
            <a:srgbClr val="E6E3DA"/>
          </a:solidFill>
          <a:ln w="6350">
            <a:solidFill>
              <a:srgbClr val="DDD9CF"/>
            </a:solidFill>
            <a:prstDash val="solid"/>
          </a:ln>
        </p:spPr>
      </p:sp>
      <p:sp>
        <p:nvSpPr>
          <p:cNvPr id="17" name="Text 15"/>
          <p:cNvSpPr/>
          <p:nvPr/>
        </p:nvSpPr>
        <p:spPr>
          <a:xfrm>
            <a:off x="812800" y="6238280"/>
            <a:ext cx="736996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Fase 2 opcional: visitar cada ficha (antigüedad, superficie cubierta, descripción completa).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B4470A"/>
                </a:solidFill>
                <a:latin typeface="IBM Plex Sans" pitchFamily="34" charset="0"/>
                <a:ea typeface="IBM Plex Sans" pitchFamily="34" charset="-122"/>
                <a:cs typeface="IBM Plex Sans" pitchFamily="34" charset="-120"/>
              </a:rPr>
              <a:t>4 · DIFICULTADES PRINCIPALES</a:t>
            </a:r>
            <a:endParaRPr lang="en-US" sz="1300" dirty="0"/>
          </a:p>
        </p:txBody>
      </p:sp>
      <p:sp>
        <p:nvSpPr>
          <p:cNvPr id="3" name="Text 1"/>
          <p:cNvSpPr>
            <a:spLocks noGrp="1"/>
          </p:cNvSpPr>
          <p:nvPr>
            <p:ph type="title"/>
          </p:nvPr>
        </p:nvSpPr>
        <p:spPr>
          <a:xfrm>
            <a:off x="812800" y="13486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El sitio no quiere ser scrapeado</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169021"/>
          <a:ext cx="10553700" cy="2564607"/>
        </p:xfrm>
        <a:graphic>
          <a:graphicData uri="http://schemas.openxmlformats.org/drawingml/2006/table">
            <a:tbl>
              <a:tblPr/>
              <a:tblGrid>
                <a:gridCol w="3377184">
                  <a:extLst>
                    <a:ext uri="{9D8B030D-6E8A-4147-A177-3AD203B41FA5}">
                      <a16:colId xmlns:a16="http://schemas.microsoft.com/office/drawing/2014/main" val="20000"/>
                    </a:ext>
                  </a:extLst>
                </a:gridCol>
                <a:gridCol w="7176516">
                  <a:extLst>
                    <a:ext uri="{9D8B030D-6E8A-4147-A177-3AD203B41FA5}">
                      <a16:colId xmlns:a16="http://schemas.microsoft.com/office/drawing/2014/main" val="20001"/>
                    </a:ext>
                  </a:extLst>
                </a:gridCol>
              </a:tblGrid>
              <a:tr h="385961">
                <a:tc>
                  <a:txBody>
                    <a:bodyPr/>
                    <a:lstStyle/>
                    <a:p>
                      <a:pPr marL="0" indent="0">
                        <a:lnSpc>
                          <a:spcPts val="1960"/>
                        </a:lnSpc>
                        <a:buNone/>
                      </a:pPr>
                      <a:r>
                        <a:rPr lang="en-US" sz="1400" b="1" dirty="0">
                          <a:solidFill>
                            <a:srgbClr val="F7F6F2"/>
                          </a:solidFill>
                          <a:latin typeface="IBM Plex Sans" pitchFamily="34" charset="0"/>
                          <a:ea typeface="IBM Plex Sans" pitchFamily="34" charset="-122"/>
                          <a:cs typeface="IBM Plex Sans" pitchFamily="34" charset="-120"/>
                        </a:rPr>
                        <a:t>Problema</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7F6F2"/>
                          </a:solidFill>
                          <a:latin typeface="IBM Plex Sans" pitchFamily="34" charset="0"/>
                          <a:ea typeface="IBM Plex Sans" pitchFamily="34" charset="-122"/>
                          <a:cs typeface="IBM Plex Sans" pitchFamily="34" charset="-120"/>
                        </a:rPr>
                        <a:t>Solución</a:t>
                      </a:r>
                      <a:endParaRPr lang="en-US" sz="1400" dirty="0">
                        <a:latin typeface="IBM Plex Sans" charset="0"/>
                        <a:ea typeface="IBM Plex Sans" charset="0"/>
                        <a:cs typeface="IBM Plex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634802">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Cloudflare bloquea bots</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Chrome real con perfil persistente, conexión residencial y verificación manual cuando aparece</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Tope de páginas por búsqueda</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Partición recursiva de la búsqueda por rangos de precio hasta que entra</a:t>
                      </a:r>
                      <a:endParaRPr lang="en-US" sz="1400" dirty="0">
                        <a:latin typeface="IBM Plex Sans" charset="0"/>
                        <a:ea typeface="IBM Plex Sans" charset="0"/>
                        <a:cs typeface="IBM Plex Sans" charset="0"/>
                      </a:endParaRPr>
                    </a:p>
                  </a:txBody>
                  <a:tcPr marL="62230" marR="62230" marT="62230" marB="62230">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Relleno con otras zonas</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Filtro por ubicación: sólo se guarda lo que es de un barrio de CABA</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Errores silenciosos: sin 404</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Detectar redirecciones y páginas repetidas para saber dónde termina cada búsqueda</a:t>
                      </a:r>
                      <a:endParaRPr lang="en-US" sz="1400" dirty="0">
                        <a:latin typeface="IBM Plex Sans" charset="0"/>
                        <a:ea typeface="IBM Plex Sans" charset="0"/>
                        <a:cs typeface="IBM Plex Sans" charset="0"/>
                      </a:endParaRPr>
                    </a:p>
                  </a:txBody>
                  <a:tcPr marL="62230" marR="62230" marT="62230" marB="62230">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Cortes en corridas largas</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Escritura incremental y frontier.json: se retoma en la misma búsqueda y página</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6238280"/>
            <a:ext cx="540960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Los parsers se prueban contra capturas reales del sitio (npm test).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F4A261"/>
                </a:solidFill>
                <a:latin typeface="IBM Plex Sans" pitchFamily="34" charset="0"/>
                <a:ea typeface="IBM Plex Sans" pitchFamily="34" charset="-122"/>
                <a:cs typeface="IBM Plex Sans" pitchFamily="34" charset="-120"/>
              </a:rPr>
              <a:t>5 · EDA Y CALIDAD DEL SCRAPEO</a:t>
            </a:r>
            <a:endParaRPr lang="en-US" sz="1300" dirty="0"/>
          </a:p>
        </p:txBody>
      </p:sp>
      <p:sp>
        <p:nvSpPr>
          <p:cNvPr id="3" name="Text 1"/>
          <p:cNvSpPr>
            <a:spLocks noGrp="1"/>
          </p:cNvSpPr>
          <p:nvPr>
            <p:ph type="title"/>
          </p:nvPr>
        </p:nvSpPr>
        <p:spPr>
          <a:xfrm>
            <a:off x="812800" y="12978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7F6F2"/>
                </a:solidFill>
                <a:latin typeface="Rubik" pitchFamily="34" charset="0"/>
                <a:ea typeface="Rubik" pitchFamily="34" charset="-122"/>
                <a:cs typeface="Rubik" pitchFamily="34" charset="-120"/>
              </a:rPr>
              <a:t>El scraper extrae bien, y se puede medir</a:t>
            </a:r>
            <a:endParaRPr lang="en-US" sz="3600" dirty="0"/>
          </a:p>
        </p:txBody>
      </p:sp>
      <p:sp>
        <p:nvSpPr>
          <p:cNvPr id="4" name="Shape 2"/>
          <p:cNvSpPr/>
          <p:nvPr/>
        </p:nvSpPr>
        <p:spPr>
          <a:xfrm>
            <a:off x="812800" y="1953468"/>
            <a:ext cx="2222500" cy="1236861"/>
          </a:xfrm>
          <a:prstGeom prst="roundRect">
            <a:avLst>
              <a:gd name="adj" fmla="val 8214"/>
            </a:avLst>
          </a:prstGeom>
          <a:solidFill>
            <a:srgbClr val="1F2E52"/>
          </a:solidFill>
          <a:ln/>
        </p:spPr>
      </p:sp>
      <p:sp>
        <p:nvSpPr>
          <p:cNvPr id="5" name="Text 3"/>
          <p:cNvSpPr/>
          <p:nvPr/>
        </p:nvSpPr>
        <p:spPr>
          <a:xfrm>
            <a:off x="990600" y="2131268"/>
            <a:ext cx="1922907"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F4A261"/>
                </a:solidFill>
                <a:latin typeface="Rubik" pitchFamily="34" charset="0"/>
                <a:ea typeface="Rubik" pitchFamily="34" charset="-122"/>
                <a:cs typeface="Rubik" pitchFamily="34" charset="-120"/>
              </a:rPr>
              <a:t>0</a:t>
            </a:r>
            <a:endParaRPr lang="en-US" sz="3200" dirty="0"/>
          </a:p>
        </p:txBody>
      </p:sp>
      <p:sp>
        <p:nvSpPr>
          <p:cNvPr id="6" name="Text 4"/>
          <p:cNvSpPr/>
          <p:nvPr/>
        </p:nvSpPr>
        <p:spPr>
          <a:xfrm>
            <a:off x="990600" y="2601168"/>
            <a:ext cx="1922907"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C9D3E6"/>
                </a:solidFill>
                <a:latin typeface="IBM Plex Sans" pitchFamily="34" charset="0"/>
                <a:ea typeface="IBM Plex Sans" pitchFamily="34" charset="-122"/>
                <a:cs typeface="IBM Plex Sans" pitchFamily="34" charset="-120"/>
              </a:rPr>
              <a:t>fallas en las 15 reglas de unicidad y formato</a:t>
            </a:r>
            <a:endParaRPr lang="en-US" sz="1200" dirty="0"/>
          </a:p>
        </p:txBody>
      </p:sp>
      <p:sp>
        <p:nvSpPr>
          <p:cNvPr id="7" name="Shape 5"/>
          <p:cNvSpPr/>
          <p:nvPr/>
        </p:nvSpPr>
        <p:spPr>
          <a:xfrm>
            <a:off x="3162300" y="1953468"/>
            <a:ext cx="2222500" cy="1236861"/>
          </a:xfrm>
          <a:prstGeom prst="roundRect">
            <a:avLst>
              <a:gd name="adj" fmla="val 8214"/>
            </a:avLst>
          </a:prstGeom>
          <a:solidFill>
            <a:srgbClr val="1F2E52"/>
          </a:solidFill>
          <a:ln/>
        </p:spPr>
      </p:sp>
      <p:sp>
        <p:nvSpPr>
          <p:cNvPr id="8" name="Text 6"/>
          <p:cNvSpPr/>
          <p:nvPr/>
        </p:nvSpPr>
        <p:spPr>
          <a:xfrm>
            <a:off x="3340100" y="2131268"/>
            <a:ext cx="1922907"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F4A261"/>
                </a:solidFill>
                <a:latin typeface="Rubik" pitchFamily="34" charset="0"/>
                <a:ea typeface="Rubik" pitchFamily="34" charset="-122"/>
                <a:cs typeface="Rubik" pitchFamily="34" charset="-120"/>
              </a:rPr>
              <a:t>99,8 %</a:t>
            </a:r>
            <a:endParaRPr lang="en-US" sz="3200" dirty="0"/>
          </a:p>
        </p:txBody>
      </p:sp>
      <p:sp>
        <p:nvSpPr>
          <p:cNvPr id="9" name="Text 7"/>
          <p:cNvSpPr/>
          <p:nvPr/>
        </p:nvSpPr>
        <p:spPr>
          <a:xfrm>
            <a:off x="3340100" y="2601168"/>
            <a:ext cx="1922907"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C9D3E6"/>
                </a:solidFill>
                <a:latin typeface="IBM Plex Sans" pitchFamily="34" charset="0"/>
                <a:ea typeface="IBM Plex Sans" pitchFamily="34" charset="-122"/>
                <a:cs typeface="IBM Plex Sans" pitchFamily="34" charset="-120"/>
              </a:rPr>
              <a:t>coincide con la URL del aviso (ambientes: 99,4 %)</a:t>
            </a:r>
            <a:endParaRPr lang="en-US" sz="1200" dirty="0"/>
          </a:p>
        </p:txBody>
      </p:sp>
      <p:sp>
        <p:nvSpPr>
          <p:cNvPr id="10" name="Shape 8"/>
          <p:cNvSpPr/>
          <p:nvPr/>
        </p:nvSpPr>
        <p:spPr>
          <a:xfrm>
            <a:off x="812800" y="3317329"/>
            <a:ext cx="2222500" cy="1442541"/>
          </a:xfrm>
          <a:prstGeom prst="roundRect">
            <a:avLst>
              <a:gd name="adj" fmla="val 7043"/>
            </a:avLst>
          </a:prstGeom>
          <a:solidFill>
            <a:srgbClr val="1F2E52"/>
          </a:solidFill>
          <a:ln/>
        </p:spPr>
      </p:sp>
      <p:sp>
        <p:nvSpPr>
          <p:cNvPr id="11" name="Text 9"/>
          <p:cNvSpPr/>
          <p:nvPr/>
        </p:nvSpPr>
        <p:spPr>
          <a:xfrm>
            <a:off x="990600" y="3495129"/>
            <a:ext cx="1922907"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F7F6F2"/>
                </a:solidFill>
                <a:latin typeface="Rubik" pitchFamily="34" charset="0"/>
                <a:ea typeface="Rubik" pitchFamily="34" charset="-122"/>
                <a:cs typeface="Rubik" pitchFamily="34" charset="-120"/>
              </a:rPr>
              <a:t>10 / 10</a:t>
            </a:r>
            <a:endParaRPr lang="en-US" sz="3200" dirty="0"/>
          </a:p>
        </p:txBody>
      </p:sp>
      <p:sp>
        <p:nvSpPr>
          <p:cNvPr id="12" name="Text 10"/>
          <p:cNvSpPr/>
          <p:nvPr/>
        </p:nvSpPr>
        <p:spPr>
          <a:xfrm>
            <a:off x="990600" y="3965029"/>
            <a:ext cx="1922907" cy="6424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C9D3E6"/>
                </a:solidFill>
                <a:latin typeface="IBM Plex Sans" pitchFamily="34" charset="0"/>
                <a:ea typeface="IBM Plex Sans" pitchFamily="34" charset="-122"/>
                <a:cs typeface="IBM Plex Sans" pitchFamily="34" charset="-120"/>
              </a:rPr>
              <a:t>campos obligatorios completos; lo que falta lo explica el sitio</a:t>
            </a:r>
            <a:endParaRPr lang="en-US" sz="1200" dirty="0"/>
          </a:p>
        </p:txBody>
      </p:sp>
      <p:sp>
        <p:nvSpPr>
          <p:cNvPr id="13" name="Shape 11"/>
          <p:cNvSpPr/>
          <p:nvPr/>
        </p:nvSpPr>
        <p:spPr>
          <a:xfrm>
            <a:off x="3162300" y="3317329"/>
            <a:ext cx="2222500" cy="1442541"/>
          </a:xfrm>
          <a:prstGeom prst="roundRect">
            <a:avLst>
              <a:gd name="adj" fmla="val 7043"/>
            </a:avLst>
          </a:prstGeom>
          <a:solidFill>
            <a:srgbClr val="1F2E52"/>
          </a:solidFill>
          <a:ln/>
        </p:spPr>
      </p:sp>
      <p:sp>
        <p:nvSpPr>
          <p:cNvPr id="14" name="Text 12"/>
          <p:cNvSpPr/>
          <p:nvPr/>
        </p:nvSpPr>
        <p:spPr>
          <a:xfrm>
            <a:off x="3340100" y="3495129"/>
            <a:ext cx="1922907"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F7F6F2"/>
                </a:solidFill>
                <a:latin typeface="Rubik" pitchFamily="34" charset="0"/>
                <a:ea typeface="Rubik" pitchFamily="34" charset="-122"/>
                <a:cs typeface="Rubik" pitchFamily="34" charset="-120"/>
              </a:rPr>
              <a:t>4,7 %</a:t>
            </a:r>
            <a:endParaRPr lang="en-US" sz="3200" dirty="0"/>
          </a:p>
        </p:txBody>
      </p:sp>
      <p:sp>
        <p:nvSpPr>
          <p:cNvPr id="15" name="Text 13"/>
          <p:cNvSpPr/>
          <p:nvPr/>
        </p:nvSpPr>
        <p:spPr>
          <a:xfrm>
            <a:off x="3340100" y="3965029"/>
            <a:ext cx="1922907" cy="6424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C9D3E6"/>
                </a:solidFill>
                <a:latin typeface="IBM Plex Sans" pitchFamily="34" charset="0"/>
                <a:ea typeface="IBM Plex Sans" pitchFamily="34" charset="-122"/>
                <a:cs typeface="IBM Plex Sans" pitchFamily="34" charset="-120"/>
              </a:rPr>
              <a:t>de avisos repiten una unidad ya publicada: se agrupan</a:t>
            </a:r>
            <a:endParaRPr lang="en-US" sz="1200" dirty="0"/>
          </a:p>
        </p:txBody>
      </p:sp>
      <p:sp>
        <p:nvSpPr>
          <p:cNvPr id="19" name="Shape 17"/>
          <p:cNvSpPr/>
          <p:nvPr/>
        </p:nvSpPr>
        <p:spPr>
          <a:xfrm>
            <a:off x="812800" y="4886870"/>
            <a:ext cx="2222500" cy="1236861"/>
          </a:xfrm>
          <a:prstGeom prst="roundRect">
            <a:avLst>
              <a:gd name="adj" fmla="val 8214"/>
            </a:avLst>
          </a:prstGeom>
          <a:solidFill>
            <a:srgbClr val="1F2E52"/>
          </a:solidFill>
          <a:ln/>
        </p:spPr>
      </p:sp>
      <p:sp>
        <p:nvSpPr>
          <p:cNvPr id="20" name="Text 18"/>
          <p:cNvSpPr/>
          <p:nvPr/>
        </p:nvSpPr>
        <p:spPr>
          <a:xfrm>
            <a:off x="990600" y="5064670"/>
            <a:ext cx="1922907"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F4A261"/>
                </a:solidFill>
                <a:latin typeface="Rubik" pitchFamily="34" charset="0"/>
                <a:ea typeface="Rubik" pitchFamily="34" charset="-122"/>
                <a:cs typeface="Rubik" pitchFamily="34" charset="-120"/>
              </a:rPr>
              <a:t>0</a:t>
            </a:r>
            <a:endParaRPr lang="en-US" sz="3200" dirty="0"/>
          </a:p>
        </p:txBody>
      </p:sp>
      <p:sp>
        <p:nvSpPr>
          <p:cNvPr id="21" name="Text 19"/>
          <p:cNvSpPr/>
          <p:nvPr/>
        </p:nvSpPr>
        <p:spPr>
          <a:xfrm>
            <a:off x="990600" y="5534570"/>
            <a:ext cx="1922907"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C9D3E6"/>
                </a:solidFill>
                <a:latin typeface="IBM Plex Sans" pitchFamily="34" charset="0"/>
                <a:ea typeface="IBM Plex Sans" pitchFamily="34" charset="-122"/>
                <a:cs typeface="IBM Plex Sans" pitchFamily="34" charset="-120"/>
              </a:rPr>
              <a:t>franjas con deriva del parser en 8 horas</a:t>
            </a:r>
            <a:endParaRPr lang="en-US" sz="1200" dirty="0"/>
          </a:p>
        </p:txBody>
      </p:sp>
      <p:sp>
        <p:nvSpPr>
          <p:cNvPr id="22" name="Shape 20"/>
          <p:cNvSpPr/>
          <p:nvPr/>
        </p:nvSpPr>
        <p:spPr>
          <a:xfrm>
            <a:off x="3162300" y="4886870"/>
            <a:ext cx="2222500" cy="1236861"/>
          </a:xfrm>
          <a:prstGeom prst="roundRect">
            <a:avLst>
              <a:gd name="adj" fmla="val 8214"/>
            </a:avLst>
          </a:prstGeom>
          <a:solidFill>
            <a:srgbClr val="1F2E52"/>
          </a:solidFill>
          <a:ln/>
        </p:spPr>
      </p:sp>
      <p:sp>
        <p:nvSpPr>
          <p:cNvPr id="23" name="Text 21"/>
          <p:cNvSpPr/>
          <p:nvPr/>
        </p:nvSpPr>
        <p:spPr>
          <a:xfrm>
            <a:off x="3340100" y="5064670"/>
            <a:ext cx="1922907"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F7F6F2"/>
                </a:solidFill>
                <a:latin typeface="Rubik" pitchFamily="34" charset="0"/>
                <a:ea typeface="Rubik" pitchFamily="34" charset="-122"/>
                <a:cs typeface="Rubik" pitchFamily="34" charset="-120"/>
              </a:rPr>
              <a:t>70 %</a:t>
            </a:r>
            <a:endParaRPr lang="en-US" sz="3200" dirty="0"/>
          </a:p>
        </p:txBody>
      </p:sp>
      <p:sp>
        <p:nvSpPr>
          <p:cNvPr id="24" name="Text 22"/>
          <p:cNvSpPr/>
          <p:nvPr/>
        </p:nvSpPr>
        <p:spPr>
          <a:xfrm>
            <a:off x="3340100" y="5534570"/>
            <a:ext cx="1922907"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C9D3E6"/>
                </a:solidFill>
                <a:latin typeface="IBM Plex Sans" pitchFamily="34" charset="0"/>
                <a:ea typeface="IBM Plex Sans" pitchFamily="34" charset="-122"/>
                <a:cs typeface="IBM Plex Sans" pitchFamily="34" charset="-120"/>
              </a:rPr>
              <a:t>de cobertura de lo </a:t>
            </a:r>
            <a:r>
              <a:rPr lang="en-US" sz="1200" dirty="0" err="1">
                <a:solidFill>
                  <a:srgbClr val="C9D3E6"/>
                </a:solidFill>
                <a:latin typeface="IBM Plex Sans" pitchFamily="34" charset="0"/>
                <a:ea typeface="IBM Plex Sans" pitchFamily="34" charset="-122"/>
                <a:cs typeface="IBM Plex Sans" pitchFamily="34" charset="-120"/>
              </a:rPr>
              <a:t>anunciado</a:t>
            </a:r>
            <a:endParaRPr lang="en-US" sz="1200" dirty="0"/>
          </a:p>
        </p:txBody>
      </p:sp>
      <p:sp>
        <p:nvSpPr>
          <p:cNvPr id="16" name="Shape 14"/>
          <p:cNvSpPr/>
          <p:nvPr/>
        </p:nvSpPr>
        <p:spPr>
          <a:xfrm>
            <a:off x="5692775" y="2057896"/>
            <a:ext cx="5683250" cy="3194050"/>
          </a:xfrm>
          <a:prstGeom prst="roundRect">
            <a:avLst>
              <a:gd name="adj" fmla="val 3082"/>
            </a:avLst>
          </a:prstGeom>
          <a:solidFill>
            <a:srgbClr val="1F2E52"/>
          </a:solidFill>
          <a:ln w="6350">
            <a:solidFill>
              <a:srgbClr val="33456E"/>
            </a:solidFill>
            <a:prstDash val="solid"/>
          </a:ln>
        </p:spPr>
      </p:sp>
      <p:sp>
        <p:nvSpPr>
          <p:cNvPr id="17" name="Text 15"/>
          <p:cNvSpPr/>
          <p:nvPr/>
        </p:nvSpPr>
        <p:spPr>
          <a:xfrm>
            <a:off x="812800" y="6405328"/>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6"/>
                </a:solidFill>
                <a:latin typeface="IBM Plex Sans" pitchFamily="34" charset="0"/>
                <a:ea typeface="IBM Plex Sans" pitchFamily="34" charset="-122"/>
                <a:cs typeface="IBM Plex Sans" pitchFamily="34" charset="-120"/>
              </a:rPr>
              <a:t>Errores de origen detectados (menos del 2,2 %): ventas cargadas en pesos con montos en dólares, valores de relleno como 111.111.111.111.</a:t>
            </a:r>
            <a:endParaRPr lang="en-US" sz="1200" dirty="0"/>
          </a:p>
        </p:txBody>
      </p:sp>
      <p:pic>
        <p:nvPicPr>
          <p:cNvPr id="18" name="Video Data Quality">
            <a:hlinkClick r:id="" action="ppaction://media"/>
            <a:extLst>
              <a:ext uri="{FF2B5EF4-FFF2-40B4-BE49-F238E27FC236}">
                <a16:creationId xmlns:a16="http://schemas.microsoft.com/office/drawing/2014/main" id="{AECB224F-34E4-E371-45BC-FB6ACEE7B6A6}"/>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692775" y="1963887"/>
            <a:ext cx="5683250" cy="426243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337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18"/>
                </p:tgtEl>
              </p:cMediaNode>
            </p:video>
            <p:seq concurrent="1" nextAc="seek">
              <p:cTn id="8" restart="whenNotActive" fill="hold" evtFilter="cancelBubble" nodeType="interactiveSeq">
                <p:stCondLst>
                  <p:cond evt="onClick" delay="0">
                    <p:tgtEl>
                      <p:spTgt spid="1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8"/>
                                        </p:tgtEl>
                                      </p:cBhvr>
                                    </p:cmd>
                                  </p:childTnLst>
                                </p:cTn>
                              </p:par>
                            </p:childTnLst>
                          </p:cTn>
                        </p:par>
                      </p:childTnLst>
                    </p:cTn>
                  </p:par>
                </p:childTnLst>
              </p:cTn>
              <p:nextCondLst>
                <p:cond evt="onClick" delay="0">
                  <p:tgtEl>
                    <p:spTgt spid="18"/>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B4470A"/>
                </a:solidFill>
                <a:latin typeface="IBM Plex Sans" pitchFamily="34" charset="0"/>
                <a:ea typeface="IBM Plex Sans" pitchFamily="34" charset="-122"/>
                <a:cs typeface="IBM Plex Sans" pitchFamily="34" charset="-120"/>
              </a:rPr>
              <a:t>6 · MODELO DE ML</a:t>
            </a:r>
            <a:endParaRPr lang="en-US" sz="1300" dirty="0"/>
          </a:p>
        </p:txBody>
      </p:sp>
      <p:sp>
        <p:nvSpPr>
          <p:cNvPr id="3" name="Text 1"/>
          <p:cNvSpPr>
            <a:spLocks noGrp="1"/>
          </p:cNvSpPr>
          <p:nvPr>
            <p:ph type="title"/>
          </p:nvPr>
        </p:nvSpPr>
        <p:spPr>
          <a:xfrm>
            <a:off x="812800" y="12978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LightGBM sobre USD/m², evaluado sin trampa</a:t>
            </a:r>
            <a:endParaRPr lang="en-US" sz="3600" dirty="0"/>
          </a:p>
        </p:txBody>
      </p:sp>
      <p:sp>
        <p:nvSpPr>
          <p:cNvPr id="4" name="Shape 2"/>
          <p:cNvSpPr/>
          <p:nvPr/>
        </p:nvSpPr>
        <p:spPr>
          <a:xfrm>
            <a:off x="825500" y="2054721"/>
            <a:ext cx="0" cy="718741"/>
          </a:xfrm>
          <a:prstGeom prst="line">
            <a:avLst/>
          </a:prstGeom>
          <a:noFill/>
          <a:ln w="25400">
            <a:solidFill>
              <a:srgbClr val="B4470A"/>
            </a:solidFill>
            <a:prstDash val="solid"/>
          </a:ln>
        </p:spPr>
      </p:sp>
      <p:sp>
        <p:nvSpPr>
          <p:cNvPr id="5" name="Text 3"/>
          <p:cNvSpPr/>
          <p:nvPr/>
        </p:nvSpPr>
        <p:spPr>
          <a:xfrm>
            <a:off x="990600" y="2067421"/>
            <a:ext cx="452602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Datos</a:t>
            </a:r>
            <a:endParaRPr lang="en-US" sz="1500" dirty="0"/>
          </a:p>
        </p:txBody>
      </p:sp>
      <p:sp>
        <p:nvSpPr>
          <p:cNvPr id="6" name="Text 4"/>
          <p:cNvSpPr/>
          <p:nvPr/>
        </p:nvSpPr>
        <p:spPr>
          <a:xfrm>
            <a:off x="990600" y="2334121"/>
            <a:ext cx="452602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Departamentos en venta en USD; reglas de consistencia, sin pozo y sin duplicados confirmados.</a:t>
            </a:r>
            <a:endParaRPr lang="en-US" sz="1200" dirty="0"/>
          </a:p>
        </p:txBody>
      </p:sp>
      <p:sp>
        <p:nvSpPr>
          <p:cNvPr id="7" name="Shape 5"/>
          <p:cNvSpPr/>
          <p:nvPr/>
        </p:nvSpPr>
        <p:spPr>
          <a:xfrm>
            <a:off x="825500" y="2925862"/>
            <a:ext cx="0" cy="718741"/>
          </a:xfrm>
          <a:prstGeom prst="line">
            <a:avLst/>
          </a:prstGeom>
          <a:noFill/>
          <a:ln w="25400">
            <a:solidFill>
              <a:srgbClr val="B4470A"/>
            </a:solidFill>
            <a:prstDash val="solid"/>
          </a:ln>
        </p:spPr>
      </p:sp>
      <p:sp>
        <p:nvSpPr>
          <p:cNvPr id="8" name="Text 6"/>
          <p:cNvSpPr/>
          <p:nvPr/>
        </p:nvSpPr>
        <p:spPr>
          <a:xfrm>
            <a:off x="990600" y="2938562"/>
            <a:ext cx="452602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Variables</a:t>
            </a:r>
            <a:endParaRPr lang="en-US" sz="1500" dirty="0"/>
          </a:p>
        </p:txBody>
      </p:sp>
      <p:sp>
        <p:nvSpPr>
          <p:cNvPr id="9" name="Text 7"/>
          <p:cNvSpPr/>
          <p:nvPr/>
        </p:nvSpPr>
        <p:spPr>
          <a:xfrm>
            <a:off x="990600" y="3205262"/>
            <a:ext cx="452602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m², ambientes, barrio y calle (target encoding fuera de fold), atributos del texto sin montos.</a:t>
            </a:r>
            <a:endParaRPr lang="en-US" sz="1200" dirty="0"/>
          </a:p>
        </p:txBody>
      </p:sp>
      <p:sp>
        <p:nvSpPr>
          <p:cNvPr id="10" name="Shape 8"/>
          <p:cNvSpPr/>
          <p:nvPr/>
        </p:nvSpPr>
        <p:spPr>
          <a:xfrm>
            <a:off x="825500" y="3797002"/>
            <a:ext cx="0" cy="718741"/>
          </a:xfrm>
          <a:prstGeom prst="line">
            <a:avLst/>
          </a:prstGeom>
          <a:noFill/>
          <a:ln w="25400">
            <a:solidFill>
              <a:srgbClr val="B4470A"/>
            </a:solidFill>
            <a:prstDash val="solid"/>
          </a:ln>
        </p:spPr>
      </p:sp>
      <p:sp>
        <p:nvSpPr>
          <p:cNvPr id="11" name="Text 9"/>
          <p:cNvSpPr/>
          <p:nvPr/>
        </p:nvSpPr>
        <p:spPr>
          <a:xfrm>
            <a:off x="990600" y="3809702"/>
            <a:ext cx="452602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Validación</a:t>
            </a:r>
            <a:endParaRPr lang="en-US" sz="1500" dirty="0"/>
          </a:p>
        </p:txBody>
      </p:sp>
      <p:sp>
        <p:nvSpPr>
          <p:cNvPr id="12" name="Text 10"/>
          <p:cNvSpPr/>
          <p:nvPr/>
        </p:nvSpPr>
        <p:spPr>
          <a:xfrm>
            <a:off x="990600" y="4076402"/>
            <a:ext cx="452602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Test fijo agrupado por unidad: la misma propiedad nunca queda en train y en test.</a:t>
            </a:r>
            <a:endParaRPr lang="en-US" sz="1200" dirty="0"/>
          </a:p>
        </p:txBody>
      </p:sp>
      <p:sp>
        <p:nvSpPr>
          <p:cNvPr id="13" name="Shape 11"/>
          <p:cNvSpPr/>
          <p:nvPr/>
        </p:nvSpPr>
        <p:spPr>
          <a:xfrm>
            <a:off x="825500" y="4668143"/>
            <a:ext cx="0" cy="718741"/>
          </a:xfrm>
          <a:prstGeom prst="line">
            <a:avLst/>
          </a:prstGeom>
          <a:noFill/>
          <a:ln w="25400">
            <a:solidFill>
              <a:srgbClr val="B4470A"/>
            </a:solidFill>
            <a:prstDash val="solid"/>
          </a:ln>
        </p:spPr>
      </p:sp>
      <p:sp>
        <p:nvSpPr>
          <p:cNvPr id="14" name="Text 12"/>
          <p:cNvSpPr/>
          <p:nvPr/>
        </p:nvSpPr>
        <p:spPr>
          <a:xfrm>
            <a:off x="990600" y="4680843"/>
            <a:ext cx="452602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Rubik" pitchFamily="34" charset="0"/>
                <a:ea typeface="Rubik" pitchFamily="34" charset="-122"/>
                <a:cs typeface="Rubik" pitchFamily="34" charset="-120"/>
              </a:rPr>
              <a:t>Ajuste</a:t>
            </a:r>
            <a:endParaRPr lang="en-US" sz="1500" dirty="0"/>
          </a:p>
        </p:txBody>
      </p:sp>
      <p:sp>
        <p:nvSpPr>
          <p:cNvPr id="15" name="Text 13"/>
          <p:cNvSpPr/>
          <p:nvPr/>
        </p:nvSpPr>
        <p:spPr>
          <a:xfrm>
            <a:off x="990600" y="4947543"/>
            <a:ext cx="452602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CV de 5 folds agrupados, pérdida Huber, hiperparámetros con Optuna, intervalos del 80 %.</a:t>
            </a:r>
            <a:endParaRPr lang="en-US" sz="1200" dirty="0"/>
          </a:p>
        </p:txBody>
      </p:sp>
      <p:sp>
        <p:nvSpPr>
          <p:cNvPr id="16" name="Shape 14"/>
          <p:cNvSpPr/>
          <p:nvPr/>
        </p:nvSpPr>
        <p:spPr>
          <a:xfrm>
            <a:off x="5692775" y="2057896"/>
            <a:ext cx="5683250" cy="3194050"/>
          </a:xfrm>
          <a:prstGeom prst="roundRect">
            <a:avLst>
              <a:gd name="adj" fmla="val 3082"/>
            </a:avLst>
          </a:prstGeom>
          <a:solidFill>
            <a:srgbClr val="E6E3DA"/>
          </a:solidFill>
          <a:ln w="6350">
            <a:solidFill>
              <a:srgbClr val="DDD9CF"/>
            </a:solidFill>
            <a:prstDash val="solid"/>
          </a:ln>
        </p:spPr>
      </p:sp>
      <p:sp>
        <p:nvSpPr>
          <p:cNvPr id="17" name="Text 15"/>
          <p:cNvSpPr/>
          <p:nvPr/>
        </p:nvSpPr>
        <p:spPr>
          <a:xfrm>
            <a:off x="812800" y="6238280"/>
            <a:ext cx="64275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ml/precio.py · notebooks/01_price_prediction.ipynb · docs/modelo_precio.md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B4470A"/>
                </a:solidFill>
                <a:latin typeface="IBM Plex Sans" pitchFamily="34" charset="0"/>
                <a:ea typeface="IBM Plex Sans" pitchFamily="34" charset="-122"/>
                <a:cs typeface="IBM Plex Sans" pitchFamily="34" charset="-120"/>
              </a:rPr>
              <a:t>7 · RESULTADOS</a:t>
            </a:r>
            <a:endParaRPr lang="en-US" sz="1300" dirty="0"/>
          </a:p>
        </p:txBody>
      </p:sp>
      <p:sp>
        <p:nvSpPr>
          <p:cNvPr id="3" name="Text 1"/>
          <p:cNvSpPr>
            <a:spLocks noGrp="1"/>
          </p:cNvSpPr>
          <p:nvPr>
            <p:ph type="title"/>
          </p:nvPr>
        </p:nvSpPr>
        <p:spPr>
          <a:xfrm>
            <a:off x="812800" y="1348680"/>
            <a:ext cx="10883392" cy="103108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Rubik" pitchFamily="34" charset="0"/>
                <a:ea typeface="Rubik" pitchFamily="34" charset="-122"/>
                <a:cs typeface="Rubik" pitchFamily="34" charset="-120"/>
              </a:rPr>
              <a:t>Error mediano de 9,9 % sobre departamentos nunca vistos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671862"/>
          <a:ext cx="6591300" cy="2178646"/>
        </p:xfrm>
        <a:graphic>
          <a:graphicData uri="http://schemas.openxmlformats.org/drawingml/2006/table">
            <a:tbl>
              <a:tblPr/>
              <a:tblGrid>
                <a:gridCol w="3427476">
                  <a:extLst>
                    <a:ext uri="{9D8B030D-6E8A-4147-A177-3AD203B41FA5}">
                      <a16:colId xmlns:a16="http://schemas.microsoft.com/office/drawing/2014/main" val="20000"/>
                    </a:ext>
                  </a:extLst>
                </a:gridCol>
                <a:gridCol w="1581912">
                  <a:extLst>
                    <a:ext uri="{9D8B030D-6E8A-4147-A177-3AD203B41FA5}">
                      <a16:colId xmlns:a16="http://schemas.microsoft.com/office/drawing/2014/main" val="20001"/>
                    </a:ext>
                  </a:extLst>
                </a:gridCol>
                <a:gridCol w="1581912">
                  <a:extLst>
                    <a:ext uri="{9D8B030D-6E8A-4147-A177-3AD203B41FA5}">
                      <a16:colId xmlns:a16="http://schemas.microsoft.com/office/drawing/2014/main" val="20002"/>
                    </a:ext>
                  </a:extLst>
                </a:gridCol>
              </a:tblGrid>
              <a:tr h="634802">
                <a:tc>
                  <a:txBody>
                    <a:bodyPr/>
                    <a:lstStyle/>
                    <a:p>
                      <a:pPr marL="0" indent="0">
                        <a:lnSpc>
                          <a:spcPts val="1960"/>
                        </a:lnSpc>
                        <a:buNone/>
                      </a:pPr>
                      <a:r>
                        <a:rPr lang="en-US" sz="1400" b="1" dirty="0">
                          <a:solidFill>
                            <a:srgbClr val="F7F6F2"/>
                          </a:solidFill>
                          <a:latin typeface="IBM Plex Sans" pitchFamily="34" charset="0"/>
                          <a:ea typeface="IBM Plex Sans" pitchFamily="34" charset="-122"/>
                          <a:cs typeface="IBM Plex Sans" pitchFamily="34" charset="-120"/>
                        </a:rPr>
                        <a:t>Modelo (test agrupado)</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1960"/>
                        </a:lnSpc>
                        <a:buNone/>
                      </a:pPr>
                      <a:r>
                        <a:rPr lang="en-US" sz="1400" b="1" dirty="0">
                          <a:solidFill>
                            <a:srgbClr val="F7F6F2"/>
                          </a:solidFill>
                          <a:latin typeface="IBM Plex Sans" pitchFamily="34" charset="0"/>
                          <a:ea typeface="IBM Plex Sans" pitchFamily="34" charset="-122"/>
                          <a:cs typeface="IBM Plex Sans" pitchFamily="34" charset="-120"/>
                        </a:rPr>
                        <a:t>Error mediano</a:t>
                      </a:r>
                      <a:endParaRPr lang="en-US" sz="1400" dirty="0">
                        <a:latin typeface="IBM Plex Sans" charset="0"/>
                        <a:ea typeface="IBM Plex Sans" charset="0"/>
                        <a:cs typeface="IBM Plex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1960"/>
                        </a:lnSpc>
                        <a:buNone/>
                      </a:pPr>
                      <a:r>
                        <a:rPr lang="en-US" sz="1400" b="1" dirty="0">
                          <a:solidFill>
                            <a:srgbClr val="F7F6F2"/>
                          </a:solidFill>
                          <a:latin typeface="IBM Plex Sans" pitchFamily="34" charset="0"/>
                          <a:ea typeface="IBM Plex Sans" pitchFamily="34" charset="-122"/>
                          <a:cs typeface="IBM Plex Sans" pitchFamily="34" charset="-120"/>
                        </a:rPr>
                        <a:t>Dentro de ±10 %</a:t>
                      </a:r>
                      <a:endParaRPr lang="en-US" sz="1400" dirty="0">
                        <a:latin typeface="IBM Plex Sans" charset="0"/>
                        <a:ea typeface="IBM Plex Sans" charset="0"/>
                        <a:cs typeface="IBM Plex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Mediana USD/m² del barrio × m²</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18,5 %</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28,9 %</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Ridge (regresión lineal)</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14,4 %</a:t>
                      </a:r>
                      <a:endParaRPr lang="en-US" sz="1400" dirty="0">
                        <a:latin typeface="IBM Plex Sans" charset="0"/>
                        <a:ea typeface="IBM Plex Sans" charset="0"/>
                        <a:cs typeface="IBM Plex Sans" charset="0"/>
                      </a:endParaRPr>
                    </a:p>
                  </a:txBody>
                  <a:tcPr marL="62230" marR="62230" marT="62230" marB="62230">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36,8 %</a:t>
                      </a:r>
                      <a:endParaRPr lang="en-US" sz="1400" dirty="0">
                        <a:latin typeface="IBM Plex Sans" charset="0"/>
                        <a:ea typeface="IBM Plex Sans" charset="0"/>
                        <a:cs typeface="IBM Plex Sans" charset="0"/>
                      </a:endParaRPr>
                    </a:p>
                  </a:txBody>
                  <a:tcPr marL="62230" marR="62230" marT="62230" marB="62230">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LightGBM inicial</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13,3 %</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39,1 %</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LightGBM final</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C1"/>
                      </a:solidFill>
                      <a:prstDash val="solid"/>
                      <a:round/>
                      <a:headEnd type="none" w="med" len="med"/>
                      <a:tailEnd type="none" w="med" len="med"/>
                    </a:lnL>
                    <a:lnR w="12700" cap="flat" cmpd="sng" algn="ctr">
                      <a:solidFill>
                        <a:srgbClr val="C9B9A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9B9AB"/>
                      </a:solidFill>
                      <a:prstDash val="solid"/>
                      <a:round/>
                      <a:headEnd type="none" w="med" len="med"/>
                      <a:tailEnd type="none" w="med" len="med"/>
                    </a:lnB>
                    <a:solidFill>
                      <a:srgbClr val="FCE7D6"/>
                    </a:solidFill>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9,9 %</a:t>
                      </a:r>
                      <a:endParaRPr lang="en-US" sz="1400" dirty="0">
                        <a:latin typeface="IBM Plex Sans" charset="0"/>
                        <a:ea typeface="IBM Plex Sans" charset="0"/>
                        <a:cs typeface="IBM Plex Sans" charset="0"/>
                      </a:endParaRPr>
                    </a:p>
                  </a:txBody>
                  <a:tcPr marL="62230" marR="62230" marT="62230" marB="62230">
                    <a:lnL w="12700" cap="flat" cmpd="sng" algn="ctr">
                      <a:solidFill>
                        <a:srgbClr val="C9B9AB"/>
                      </a:solidFill>
                      <a:prstDash val="solid"/>
                      <a:round/>
                      <a:headEnd type="none" w="med" len="med"/>
                      <a:tailEnd type="none" w="med" len="med"/>
                    </a:lnL>
                    <a:lnR w="12700" cap="flat" cmpd="sng" algn="ctr">
                      <a:solidFill>
                        <a:srgbClr val="C9B9A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9B9AB"/>
                      </a:solidFill>
                      <a:prstDash val="solid"/>
                      <a:round/>
                      <a:headEnd type="none" w="med" len="med"/>
                      <a:tailEnd type="none" w="med" len="med"/>
                    </a:lnB>
                    <a:solidFill>
                      <a:srgbClr val="FCE7D6"/>
                    </a:solidFill>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50,4 %</a:t>
                      </a:r>
                      <a:endParaRPr lang="en-US" sz="1400" dirty="0">
                        <a:latin typeface="IBM Plex Sans" charset="0"/>
                        <a:ea typeface="IBM Plex Sans" charset="0"/>
                        <a:cs typeface="IBM Plex Sans" charset="0"/>
                      </a:endParaRPr>
                    </a:p>
                  </a:txBody>
                  <a:tcPr marL="62230" marR="62230" marT="62230" marB="62230">
                    <a:lnL w="12700" cap="flat" cmpd="sng" algn="ctr">
                      <a:solidFill>
                        <a:srgbClr val="C9B9AB"/>
                      </a:solidFill>
                      <a:prstDash val="solid"/>
                      <a:round/>
                      <a:headEnd type="none" w="med" len="med"/>
                      <a:tailEnd type="none" w="med" len="med"/>
                    </a:lnL>
                    <a:lnR w="12700" cap="flat" cmpd="sng" algn="ctr">
                      <a:solidFill>
                        <a:srgbClr val="C9B9A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9B9AB"/>
                      </a:solidFill>
                      <a:prstDash val="solid"/>
                      <a:round/>
                      <a:headEnd type="none" w="med" len="med"/>
                      <a:tailEnd type="none" w="med" len="med"/>
                    </a:lnB>
                    <a:solidFill>
                      <a:srgbClr val="FCE7D6"/>
                    </a:solidFill>
                  </a:tcPr>
                </a:tc>
                <a:extLst>
                  <a:ext uri="{0D108BD9-81ED-4DB2-BD59-A6C34878D82A}">
                    <a16:rowId xmlns:a16="http://schemas.microsoft.com/office/drawing/2014/main" val="10004"/>
                  </a:ext>
                </a:extLst>
              </a:tr>
            </a:tbl>
          </a:graphicData>
        </a:graphic>
      </p:graphicFrame>
      <p:sp>
        <p:nvSpPr>
          <p:cNvPr id="5" name="Text 2"/>
          <p:cNvSpPr/>
          <p:nvPr/>
        </p:nvSpPr>
        <p:spPr>
          <a:xfrm>
            <a:off x="7823200" y="2659162"/>
            <a:ext cx="366268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B4470A"/>
                </a:solidFill>
                <a:latin typeface="Rubik" pitchFamily="34" charset="0"/>
                <a:ea typeface="Rubik" pitchFamily="34" charset="-122"/>
                <a:cs typeface="Rubik" pitchFamily="34" charset="-120"/>
              </a:rPr>
              <a:t>0,948</a:t>
            </a:r>
            <a:endParaRPr lang="en-US" sz="3600" dirty="0"/>
          </a:p>
        </p:txBody>
      </p:sp>
      <p:sp>
        <p:nvSpPr>
          <p:cNvPr id="6" name="Text 3"/>
          <p:cNvSpPr/>
          <p:nvPr/>
        </p:nvSpPr>
        <p:spPr>
          <a:xfrm>
            <a:off x="7823200" y="3154462"/>
            <a:ext cx="366268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R² en escala logarítmica</a:t>
            </a:r>
            <a:endParaRPr lang="en-US" sz="1300" dirty="0"/>
          </a:p>
        </p:txBody>
      </p:sp>
      <p:sp>
        <p:nvSpPr>
          <p:cNvPr id="7" name="Text 4"/>
          <p:cNvSpPr/>
          <p:nvPr/>
        </p:nvSpPr>
        <p:spPr>
          <a:xfrm>
            <a:off x="7823200" y="3588742"/>
            <a:ext cx="366268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B4470A"/>
                </a:solidFill>
                <a:latin typeface="Rubik" pitchFamily="34" charset="0"/>
                <a:ea typeface="Rubik" pitchFamily="34" charset="-122"/>
                <a:cs typeface="Rubik" pitchFamily="34" charset="-120"/>
              </a:rPr>
              <a:t>80,7 %</a:t>
            </a:r>
            <a:endParaRPr lang="en-US" sz="3600" dirty="0"/>
          </a:p>
        </p:txBody>
      </p:sp>
      <p:sp>
        <p:nvSpPr>
          <p:cNvPr id="8" name="Text 5"/>
          <p:cNvSpPr/>
          <p:nvPr/>
        </p:nvSpPr>
        <p:spPr>
          <a:xfrm>
            <a:off x="7823200" y="4084042"/>
            <a:ext cx="366268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de precios dentro del intervalo del 80 %</a:t>
            </a:r>
            <a:endParaRPr lang="en-US" sz="1300" dirty="0"/>
          </a:p>
        </p:txBody>
      </p:sp>
      <p:sp>
        <p:nvSpPr>
          <p:cNvPr id="9" name="Text 6"/>
          <p:cNvSpPr/>
          <p:nvPr/>
        </p:nvSpPr>
        <p:spPr>
          <a:xfrm>
            <a:off x="812800" y="5155307"/>
            <a:ext cx="1046480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Aprendizaje clave: la calidad de datos cambió más el resultado que el algoritmo. Quitar duplicados y agrupar el test dio una métrica honesta; con fuga, el error parecía mejor de lo que era.</a:t>
            </a:r>
            <a:endParaRPr lang="en-US" sz="1400" dirty="0"/>
          </a:p>
        </p:txBody>
      </p:sp>
      <p:sp>
        <p:nvSpPr>
          <p:cNvPr id="10" name="Text 7"/>
          <p:cNvSpPr/>
          <p:nvPr/>
        </p:nvSpPr>
        <p:spPr>
          <a:xfrm>
            <a:off x="812800" y="6238280"/>
            <a:ext cx="7105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Corrida 20261016-193214-price · 9.300 avisos de test · precio publicado, no de cierre</a:t>
            </a:r>
            <a:endParaRPr lang="en-US" sz="1200" dirty="0"/>
          </a:p>
        </p:txBody>
      </p:sp>
    </p:spTree>
  </p:cSld>
  <p:clrMapOvr>
    <a:masterClrMapping/>
  </p:clrMapOvr>
</p:sld>
</file>

<file path=ppt/theme/theme1.xml><?xml version="1.0" encoding="utf-8"?>
<a:theme xmlns:a="http://schemas.openxmlformats.org/drawingml/2006/main" name="ZonaProp Scraper · Defensa">
  <a:themeElements>
    <a:clrScheme name="ZonaProp Scraper · Defensa">
      <a:dk1>
        <a:srgbClr val="14213D"/>
      </a:dk1>
      <a:lt1>
        <a:srgbClr val="F7F6F2"/>
      </a:lt1>
      <a:dk2>
        <a:srgbClr val="4D566A"/>
      </a:dk2>
      <a:lt2>
        <a:srgbClr val="E0E1E0"/>
      </a:lt2>
      <a:accent1>
        <a:srgbClr val="B4470A"/>
      </a:accent1>
      <a:accent2>
        <a:srgbClr val="F4A261"/>
      </a:accent2>
      <a:accent3>
        <a:srgbClr val="E8590C"/>
      </a:accent3>
      <a:accent4>
        <a:srgbClr val="4A5568"/>
      </a:accent4>
      <a:accent5>
        <a:srgbClr val="C9D3E6"/>
      </a:accent5>
      <a:accent6>
        <a:srgbClr val="6B7280"/>
      </a:accent6>
      <a:hlink>
        <a:srgbClr val="0563C1"/>
      </a:hlink>
      <a:folHlink>
        <a:srgbClr val="954F72"/>
      </a:folHlink>
    </a:clrScheme>
    <a:fontScheme name="ZonaProp Scraper · Defensa">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2508</Words>
  <Application>Microsoft Office PowerPoint</Application>
  <PresentationFormat>Panorámica</PresentationFormat>
  <Paragraphs>188</Paragraphs>
  <Slides>9</Slides>
  <Notes>9</Notes>
  <HiddenSlides>0</HiddenSlides>
  <MMClips>1</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9</vt:i4>
      </vt:variant>
    </vt:vector>
  </HeadingPairs>
  <TitlesOfParts>
    <vt:vector size="13" baseType="lpstr">
      <vt:lpstr>IBM Plex Sans</vt:lpstr>
      <vt:lpstr>Rubik</vt:lpstr>
      <vt:lpstr>Arial</vt:lpstr>
      <vt:lpstr>ZonaProp Scraper · Defensa</vt:lpstr>
      <vt:lpstr>ZonaProp Scraper</vt:lpstr>
      <vt:lpstr>¿Cuánto debería valer un departamento en CABA según sus características?</vt:lpstr>
      <vt:lpstr>Cuatro maneras de usar la estimación de precio</vt:lpstr>
      <vt:lpstr>Cuatro piezas, una sola máquina</vt:lpstr>
      <vt:lpstr>Recorrer los listados como una persona</vt:lpstr>
      <vt:lpstr>El sitio no quiere ser scrapeado</vt:lpstr>
      <vt:lpstr>El scraper extrae bien, y se puede medir</vt:lpstr>
      <vt:lpstr>LightGBM sobre USD/m², evaluado sin trampa</vt:lpstr>
      <vt:lpstr>Error mediano de 9,9 % sobre departamentos nunca vistos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ZonaProp Scraper · Defensa</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Rubik
Copyright 2015 The Rubik Project Authors (https://github.com/googlefonts/rubik)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Ornela Corsetti</cp:lastModifiedBy>
  <cp:revision>8</cp:revision>
  <dcterms:created xsi:type="dcterms:W3CDTF">2026-10-21T22:19:16Z</dcterms:created>
  <dcterms:modified xsi:type="dcterms:W3CDTF">2026-10-21T23:11:01Z</dcterms:modified>
</cp:coreProperties>
</file>